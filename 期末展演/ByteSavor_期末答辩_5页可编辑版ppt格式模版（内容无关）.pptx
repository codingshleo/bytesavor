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4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502920"/>
            <a:ext cx="2834640" cy="2834640"/>
          </a:xfrm>
          <a:prstGeom prst="ellipse">
            <a:avLst/>
          </a:prstGeom>
          <a:solidFill>
            <a:srgbClr val="D3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65760"/>
            <a:ext cx="3474720" cy="228600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5897880"/>
            <a:ext cx="2468880" cy="123444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715000"/>
            <a:ext cx="2286000" cy="164592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419088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93167"/>
            <a:ext cx="2011680" cy="2457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A978"/>
                </a:solidFill>
                <a:latin typeface="PingFang SC" panose="020B0400000000000000" charset="-122"/>
              </a:rPr>
              <a:t>ByteSavor</a:t>
            </a:r>
            <a:endParaRPr sz="160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85800"/>
            <a:ext cx="5989320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173B2E"/>
                </a:solidFill>
                <a:latin typeface="PingFang SC" panose="020B0400000000000000" charset="-122"/>
              </a:rPr>
              <a:t>基于多模态 Agent 的</a:t>
            </a:r>
            <a:br>
              <a:rPr sz="2600" b="1">
                <a:solidFill>
                  <a:srgbClr val="173B2E"/>
                </a:solidFill>
                <a:latin typeface="PingFang SC" panose="020B0400000000000000" charset="-122"/>
              </a:rPr>
            </a:br>
            <a:r>
              <a:t>全场景饮食全链路解析系统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874519"/>
            <a:ext cx="534924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20" b="0">
                <a:solidFill>
                  <a:srgbClr val="2A5142"/>
                </a:solidFill>
                <a:latin typeface="PingFang SC" panose="020B0400000000000000" charset="-122"/>
              </a:rPr>
              <a:t>从拍照识别、自然语言意图，到菜谱推荐、购物清单、反馈学习，把“吃什么、怎么买、怎么调”串成一条可追踪的 Agent 流水线。</a:t>
            </a:r>
            <a:endParaRPr sz="132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3504" y="2706624"/>
            <a:ext cx="1234440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功能设计 20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938528" y="2706624"/>
            <a:ext cx="1234440" cy="310896"/>
          </a:xfrm>
          <a:prstGeom prst="roundRect">
            <a:avLst/>
          </a:prstGeom>
          <a:solidFill>
            <a:srgbClr val="4BA7C8"/>
          </a:solidFill>
          <a:ln w="11430">
            <a:solidFill>
              <a:srgbClr val="4BA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实现完整 20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273552" y="2706624"/>
            <a:ext cx="1234440" cy="310896"/>
          </a:xfrm>
          <a:prstGeom prst="roundRect">
            <a:avLst/>
          </a:prstGeom>
          <a:solidFill>
            <a:srgbClr val="F2B75B"/>
          </a:solidFill>
          <a:ln w="11430">
            <a:solidFill>
              <a:srgbClr val="F2B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173B2E"/>
                </a:solidFill>
                <a:latin typeface="PingFang SC" panose="020B0400000000000000" charset="-122"/>
              </a:rPr>
              <a:t>演示稳定 40</a:t>
            </a:r>
            <a:endParaRPr sz="10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08576" y="2706624"/>
            <a:ext cx="1234440" cy="310896"/>
          </a:xfrm>
          <a:prstGeom prst="roundRect">
            <a:avLst/>
          </a:prstGeom>
          <a:solidFill>
            <a:srgbClr val="8D7AE6"/>
          </a:solidFill>
          <a:ln w="11430">
            <a:solidFill>
              <a:srgbClr val="8D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PingFang SC" panose="020B0400000000000000" charset="-122"/>
              </a:rPr>
              <a:t>规模达标 15</a:t>
            </a:r>
            <a:endParaRPr sz="10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" y="3822191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041648"/>
            <a:ext cx="457200" cy="45720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B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98448" y="39684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3B2E"/>
                </a:solidFill>
                <a:latin typeface="PingFang SC" panose="020B0400000000000000" charset="-122"/>
              </a:rPr>
              <a:t>拍照识别</a:t>
            </a:r>
            <a:endParaRPr sz="125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4671" y="4434840"/>
            <a:ext cx="12801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食材 / 分量 / 新鲜度提示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2249424" y="4443984"/>
            <a:ext cx="237744" cy="0"/>
          </a:xfrm>
          <a:prstGeom prst="line">
            <a:avLst/>
          </a:prstGeom>
          <a:ln w="1270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578608" y="3822191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43200" y="4041648"/>
            <a:ext cx="457200" cy="457200"/>
          </a:xfrm>
          <a:prstGeom prst="ellipse">
            <a:avLst/>
          </a:prstGeom>
          <a:solidFill>
            <a:srgbClr val="4B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Y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36976" y="39684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3B2E"/>
                </a:solidFill>
                <a:latin typeface="PingFang SC" panose="020B0400000000000000" charset="-122"/>
              </a:rPr>
              <a:t>智能决策</a:t>
            </a:r>
            <a:endParaRPr sz="125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43200" y="4434840"/>
            <a:ext cx="12801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食材 + 时间 + 偏好 → 推荐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187952" y="4443984"/>
            <a:ext cx="237744" cy="0"/>
          </a:xfrm>
          <a:prstGeom prst="line">
            <a:avLst/>
          </a:prstGeom>
          <a:ln w="1270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517136" y="3822191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81728" y="4041648"/>
            <a:ext cx="457200" cy="45720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T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175504" y="39684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3B2E"/>
                </a:solidFill>
                <a:latin typeface="PingFang SC" panose="020B0400000000000000" charset="-122"/>
              </a:rPr>
              <a:t>任务执行</a:t>
            </a:r>
            <a:endParaRPr sz="125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81728" y="4434840"/>
            <a:ext cx="12801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多菜谱合并购物清单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126480" y="4443984"/>
            <a:ext cx="237744" cy="0"/>
          </a:xfrm>
          <a:prstGeom prst="line">
            <a:avLst/>
          </a:prstGeom>
          <a:ln w="1270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55664" y="3822191"/>
            <a:ext cx="1609344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20255" y="4041648"/>
            <a:ext cx="457200" cy="45720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E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14031" y="3968496"/>
            <a:ext cx="8412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1">
                <a:solidFill>
                  <a:srgbClr val="173B2E"/>
                </a:solidFill>
                <a:latin typeface="PingFang SC" panose="020B0400000000000000" charset="-122"/>
              </a:rPr>
              <a:t>反馈进化</a:t>
            </a:r>
            <a:endParaRPr sz="125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20255" y="4434840"/>
            <a:ext cx="128016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0">
                <a:solidFill>
                  <a:srgbClr val="667C72"/>
                </a:solidFill>
                <a:latin typeface="PingFang SC" panose="020B0400000000000000" charset="-122"/>
              </a:rPr>
              <a:t>评分沉淀为用户偏好</a:t>
            </a:r>
            <a:endParaRPr sz="86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796528" y="941832"/>
            <a:ext cx="2267712" cy="5120640"/>
          </a:xfrm>
          <a:prstGeom prst="roundRect">
            <a:avLst/>
          </a:prstGeom>
          <a:solidFill>
            <a:srgbClr val="173B2E"/>
          </a:solidFill>
          <a:ln w="11430">
            <a:solidFill>
              <a:srgbClr val="17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97111" y="1106424"/>
            <a:ext cx="2066543" cy="4791455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ytesavor-nav-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2" y="1170432"/>
            <a:ext cx="1975104" cy="466344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052559" y="5532120"/>
            <a:ext cx="1755648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当前首页 / 5 Tab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3504" y="6291072"/>
            <a:ext cx="77724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667C72"/>
                </a:solidFill>
                <a:latin typeface="PingFang SC" panose="020B0400000000000000" charset="-122"/>
              </a:rPr>
              <a:t>主讲：ByteSleep 李文彬   团队：鲁洁 陈子朋 罗少裴 刘一茹 杨仁宇 汪自强 李文彬</a:t>
            </a:r>
            <a:endParaRPr sz="85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502920"/>
            <a:ext cx="2834640" cy="2834640"/>
          </a:xfrm>
          <a:prstGeom prst="ellipse">
            <a:avLst/>
          </a:prstGeom>
          <a:solidFill>
            <a:srgbClr val="D3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65760"/>
            <a:ext cx="3474720" cy="228600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5897880"/>
            <a:ext cx="2468880" cy="123444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715000"/>
            <a:ext cx="2286000" cy="164592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419088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BASELINE TO CLOSURE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54864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73B2E"/>
                </a:solidFill>
                <a:latin typeface="PingFang SC" panose="020B0400000000000000" charset="-122"/>
              </a:rPr>
              <a:t>从离散工具到 BYTE 闭环</a:t>
            </a:r>
            <a:endParaRPr sz="25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18520" y="39319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667C72"/>
                </a:solidFill>
                <a:latin typeface="PingFang SC" panose="020B0400000000000000" charset="-122"/>
              </a:rPr>
              <a:t>02/05</a:t>
            </a:r>
            <a:endParaRPr sz="90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3504" y="1097280"/>
            <a:ext cx="104241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A5142"/>
                </a:solidFill>
                <a:latin typeface="PingFang SC" panose="020B0400000000000000" charset="-122"/>
              </a:rPr>
              <a:t>原始 Baseline 的核心问题不是“没有 App”，而是识别、营养、菜谱、购物、反馈互相断开。ByteSavor 的改进点是把这些节点连接成一个可执行流程。</a:t>
            </a:r>
            <a:endParaRPr sz="120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1783080"/>
            <a:ext cx="5074920" cy="3977639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99339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73B2E"/>
                </a:solidFill>
                <a:latin typeface="PingFang SC" panose="020B0400000000000000" charset="-122"/>
              </a:rPr>
              <a:t>Baseline：离散与断层</a:t>
            </a:r>
            <a:endParaRPr sz="18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60120" y="2542032"/>
            <a:ext cx="310896" cy="310896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252374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73B2E"/>
                </a:solidFill>
                <a:latin typeface="PingFang SC" panose="020B0400000000000000" charset="-122"/>
              </a:rPr>
              <a:t>识别</a:t>
            </a:r>
            <a:endParaRPr sz="11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48840" y="252374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C72"/>
                </a:solidFill>
                <a:latin typeface="PingFang SC" panose="020B0400000000000000" charset="-122"/>
              </a:rPr>
              <a:t>只能知道“是什么”</a:t>
            </a:r>
            <a:endParaRPr sz="95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115568" y="2871215"/>
            <a:ext cx="0" cy="164593"/>
          </a:xfrm>
          <a:prstGeom prst="line">
            <a:avLst/>
          </a:prstGeom>
          <a:ln>
            <a:solidFill>
              <a:srgbClr val="D46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60120" y="3108960"/>
            <a:ext cx="310896" cy="310896"/>
          </a:xfrm>
          <a:prstGeom prst="ellipse">
            <a:avLst/>
          </a:prstGeom>
          <a:solidFill>
            <a:srgbClr val="4B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17320" y="309067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73B2E"/>
                </a:solidFill>
                <a:latin typeface="PingFang SC" panose="020B0400000000000000" charset="-122"/>
              </a:rPr>
              <a:t>菜谱</a:t>
            </a:r>
            <a:endParaRPr sz="11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48840" y="30906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C72"/>
                </a:solidFill>
                <a:latin typeface="PingFang SC" panose="020B0400000000000000" charset="-122"/>
              </a:rPr>
              <a:t>单点搜索，缺少约束</a:t>
            </a:r>
            <a:endParaRPr sz="95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115568" y="3438144"/>
            <a:ext cx="0" cy="164592"/>
          </a:xfrm>
          <a:prstGeom prst="line">
            <a:avLst/>
          </a:prstGeom>
          <a:ln>
            <a:solidFill>
              <a:srgbClr val="D46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60120" y="3675887"/>
            <a:ext cx="310896" cy="310896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3657599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73B2E"/>
                </a:solidFill>
                <a:latin typeface="PingFang SC" panose="020B0400000000000000" charset="-122"/>
              </a:rPr>
              <a:t>营养</a:t>
            </a:r>
            <a:endParaRPr sz="11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48840" y="3657599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C72"/>
                </a:solidFill>
                <a:latin typeface="PingFang SC" panose="020B0400000000000000" charset="-122"/>
              </a:rPr>
              <a:t>另开工具手动换算</a:t>
            </a:r>
            <a:endParaRPr sz="95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115568" y="4005072"/>
            <a:ext cx="0" cy="164591"/>
          </a:xfrm>
          <a:prstGeom prst="line">
            <a:avLst/>
          </a:prstGeom>
          <a:ln>
            <a:solidFill>
              <a:srgbClr val="D46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60120" y="4242816"/>
            <a:ext cx="310896" cy="310896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42245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73B2E"/>
                </a:solidFill>
                <a:latin typeface="PingFang SC" panose="020B0400000000000000" charset="-122"/>
              </a:rPr>
              <a:t>清单</a:t>
            </a:r>
            <a:endParaRPr sz="11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48840" y="422452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C72"/>
                </a:solidFill>
                <a:latin typeface="PingFang SC" panose="020B0400000000000000" charset="-122"/>
              </a:rPr>
              <a:t>重复整理、难导出</a:t>
            </a:r>
            <a:endParaRPr sz="95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1115568" y="4572000"/>
            <a:ext cx="0" cy="164592"/>
          </a:xfrm>
          <a:prstGeom prst="line">
            <a:avLst/>
          </a:prstGeom>
          <a:ln>
            <a:solidFill>
              <a:srgbClr val="D46B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60120" y="4809744"/>
            <a:ext cx="310896" cy="310896"/>
          </a:xfrm>
          <a:prstGeom prst="ellipse">
            <a:avLst/>
          </a:prstGeom>
          <a:solidFill>
            <a:srgbClr val="D46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5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47914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173B2E"/>
                </a:solidFill>
                <a:latin typeface="PingFang SC" panose="020B0400000000000000" charset="-122"/>
              </a:rPr>
              <a:t>反馈</a:t>
            </a:r>
            <a:endParaRPr sz="11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48840" y="479145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667C72"/>
                </a:solidFill>
                <a:latin typeface="PingFang SC" panose="020B0400000000000000" charset="-122"/>
              </a:rPr>
              <a:t>评价不回流推荐</a:t>
            </a:r>
            <a:endParaRPr sz="95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0120" y="528523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D46B5D"/>
                </a:solidFill>
                <a:latin typeface="PingFang SC" panose="020B0400000000000000" charset="-122"/>
              </a:rPr>
              <a:t>结果：信息到行动之间存在多次手动跳转，现场演示容易变成“打开多个工具”。</a:t>
            </a:r>
            <a:endParaRPr sz="1050" b="1">
              <a:solidFill>
                <a:srgbClr val="D46B5D"/>
              </a:solidFill>
              <a:latin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199632" y="1783080"/>
            <a:ext cx="5166360" cy="3977639"/>
          </a:xfrm>
          <a:prstGeom prst="roundRect">
            <a:avLst/>
          </a:prstGeom>
          <a:solidFill>
            <a:srgbClr val="E8F8F0"/>
          </a:solidFill>
          <a:ln w="11430">
            <a:solidFill>
              <a:srgbClr val="23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99339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73B2E"/>
                </a:solidFill>
                <a:latin typeface="PingFang SC" panose="020B0400000000000000" charset="-122"/>
              </a:rPr>
              <a:t>ByteSavor：Agent 全链路闭环</a:t>
            </a:r>
            <a:endParaRPr sz="18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473952" y="2788920"/>
            <a:ext cx="96012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766560" y="2971800"/>
            <a:ext cx="365760" cy="36576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B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65392" y="345643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73B2E"/>
                </a:solidFill>
                <a:latin typeface="PingFang SC" panose="020B0400000000000000" charset="-122"/>
              </a:rPr>
              <a:t>Sense</a:t>
            </a:r>
            <a:endParaRPr sz="88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65392" y="3703320"/>
            <a:ext cx="786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667C72"/>
                </a:solidFill>
                <a:latin typeface="PingFang SC" panose="020B0400000000000000" charset="-122"/>
              </a:rPr>
              <a:t>图片/文本输入</a:t>
            </a:r>
            <a:endParaRPr sz="72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7434072" y="3383280"/>
            <a:ext cx="155448" cy="0"/>
          </a:xfrm>
          <a:prstGeom prst="line">
            <a:avLst/>
          </a:prstGeom>
          <a:ln w="1270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607808" y="2788920"/>
            <a:ext cx="96012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00416" y="2971800"/>
            <a:ext cx="365760" cy="365760"/>
          </a:xfrm>
          <a:prstGeom prst="ellipse">
            <a:avLst/>
          </a:prstGeom>
          <a:solidFill>
            <a:srgbClr val="4B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Y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699248" y="345643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73B2E"/>
                </a:solidFill>
                <a:latin typeface="PingFang SC" panose="020B0400000000000000" charset="-122"/>
              </a:rPr>
              <a:t>Decision</a:t>
            </a:r>
            <a:endParaRPr sz="88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99248" y="3703320"/>
            <a:ext cx="786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667C72"/>
                </a:solidFill>
                <a:latin typeface="PingFang SC" panose="020B0400000000000000" charset="-122"/>
              </a:rPr>
              <a:t>推荐 + 营养缺口</a:t>
            </a:r>
            <a:endParaRPr sz="72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8567928" y="3383280"/>
            <a:ext cx="155448" cy="0"/>
          </a:xfrm>
          <a:prstGeom prst="line">
            <a:avLst/>
          </a:prstGeom>
          <a:ln w="1270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8741664" y="2788920"/>
            <a:ext cx="96012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34272" y="2971800"/>
            <a:ext cx="365760" cy="36576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T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33104" y="345643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73B2E"/>
                </a:solidFill>
                <a:latin typeface="PingFang SC" panose="020B0400000000000000" charset="-122"/>
              </a:rPr>
              <a:t>Task</a:t>
            </a:r>
            <a:endParaRPr sz="88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33104" y="3703320"/>
            <a:ext cx="786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667C72"/>
                </a:solidFill>
                <a:latin typeface="PingFang SC" panose="020B0400000000000000" charset="-122"/>
              </a:rPr>
              <a:t>清单合并 + 导出</a:t>
            </a:r>
            <a:endParaRPr sz="72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9701784" y="3383280"/>
            <a:ext cx="155448" cy="0"/>
          </a:xfrm>
          <a:prstGeom prst="line">
            <a:avLst/>
          </a:prstGeom>
          <a:ln w="1270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875520" y="2788920"/>
            <a:ext cx="960120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168128" y="2971800"/>
            <a:ext cx="365760" cy="36576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E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966960" y="3456432"/>
            <a:ext cx="78638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73B2E"/>
                </a:solidFill>
                <a:latin typeface="PingFang SC" panose="020B0400000000000000" charset="-122"/>
              </a:rPr>
              <a:t>Feedback</a:t>
            </a:r>
            <a:endParaRPr sz="88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966960" y="3703320"/>
            <a:ext cx="78638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20" b="0">
                <a:solidFill>
                  <a:srgbClr val="667C72"/>
                </a:solidFill>
                <a:latin typeface="PingFang SC" panose="020B0400000000000000" charset="-122"/>
              </a:rPr>
              <a:t>评分学习偏好</a:t>
            </a:r>
            <a:endParaRPr sz="72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 flipH="1">
            <a:off x="6967728" y="3767328"/>
            <a:ext cx="2962656" cy="758952"/>
          </a:xfrm>
          <a:prstGeom prst="line">
            <a:avLst/>
          </a:prstGeom>
          <a:ln w="12700">
            <a:solidFill>
              <a:srgbClr val="8D7A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473952" y="4800600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1">
                <a:solidFill>
                  <a:srgbClr val="2A5142"/>
                </a:solidFill>
                <a:latin typeface="PingFang SC" panose="020B0400000000000000" charset="-122"/>
              </a:rPr>
              <a:t>每次调用保留 trace_id / stages / latency / degraded，能解释、能兜底、能复盘。</a:t>
            </a:r>
            <a:endParaRPr sz="1120" b="1">
              <a:solidFill>
                <a:srgbClr val="2A5142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502920"/>
            <a:ext cx="2834640" cy="2834640"/>
          </a:xfrm>
          <a:prstGeom prst="ellipse">
            <a:avLst/>
          </a:prstGeom>
          <a:solidFill>
            <a:srgbClr val="D3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65760"/>
            <a:ext cx="3474720" cy="228600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5897880"/>
            <a:ext cx="2468880" cy="123444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715000"/>
            <a:ext cx="2286000" cy="164592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419088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TECHNICAL STACK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54864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73B2E"/>
                </a:solidFill>
                <a:latin typeface="PingFang SC" panose="020B0400000000000000" charset="-122"/>
              </a:rPr>
              <a:t>架构：前端体验 + 后端 Agent 编排</a:t>
            </a:r>
            <a:endParaRPr sz="25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18520" y="39319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667C72"/>
                </a:solidFill>
                <a:latin typeface="PingFang SC" panose="020B0400000000000000" charset="-122"/>
              </a:rPr>
              <a:t>03/05</a:t>
            </a:r>
            <a:endParaRPr sz="90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1298448"/>
            <a:ext cx="5623560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1408176"/>
            <a:ext cx="2057400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uni-app Vue3 / Vite5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00400" y="1417319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5142"/>
                </a:solidFill>
                <a:latin typeface="PingFang SC" panose="020B0400000000000000" charset="-122"/>
              </a:rPr>
              <a:t>H5 + 小程序界面：首页中枢、拍照识别、探索菜谱、健康看板、设置</a:t>
            </a:r>
            <a:endParaRPr sz="89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511296" y="1810512"/>
            <a:ext cx="0" cy="219455"/>
          </a:xfrm>
          <a:prstGeom prst="line">
            <a:avLst/>
          </a:prstGeom>
          <a:ln w="1143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" y="2048255"/>
            <a:ext cx="5623560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2157984"/>
            <a:ext cx="2057400" cy="310896"/>
          </a:xfrm>
          <a:prstGeom prst="roundRect">
            <a:avLst/>
          </a:prstGeom>
          <a:solidFill>
            <a:srgbClr val="4BA7C8"/>
          </a:solidFill>
          <a:ln w="11430">
            <a:solidFill>
              <a:srgbClr val="4BA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FastAPI Routes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0" y="2167127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5142"/>
                </a:solidFill>
                <a:latin typeface="PingFang SC" panose="020B0400000000000000" charset="-122"/>
              </a:rPr>
              <a:t>认证、Sense、Decision、Task、Feedback、Agent、知识接口</a:t>
            </a:r>
            <a:endParaRPr sz="89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511296" y="2560320"/>
            <a:ext cx="0" cy="219456"/>
          </a:xfrm>
          <a:prstGeom prst="line">
            <a:avLst/>
          </a:prstGeom>
          <a:ln w="1143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3232" y="2798063"/>
            <a:ext cx="5623560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6112" y="2907791"/>
            <a:ext cx="2057400" cy="310896"/>
          </a:xfrm>
          <a:prstGeom prst="roundRect">
            <a:avLst/>
          </a:prstGeom>
          <a:solidFill>
            <a:srgbClr val="F2B75B"/>
          </a:solidFill>
          <a:ln w="11430">
            <a:solidFill>
              <a:srgbClr val="F2B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173B2E"/>
                </a:solidFill>
                <a:latin typeface="PingFang SC" panose="020B0400000000000000" charset="-122"/>
              </a:rPr>
              <a:t>Service Layer</a:t>
            </a:r>
            <a:endParaRPr sz="85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0" y="2916935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5142"/>
                </a:solidFill>
                <a:latin typeface="PingFang SC" panose="020B0400000000000000" charset="-122"/>
              </a:rPr>
              <a:t>推荐引擎、清单合并、偏好学习、意图解析、降级策略</a:t>
            </a:r>
            <a:endParaRPr sz="89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511296" y="3310127"/>
            <a:ext cx="0" cy="219456"/>
          </a:xfrm>
          <a:prstGeom prst="line">
            <a:avLst/>
          </a:prstGeom>
          <a:ln w="1143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3547872"/>
            <a:ext cx="5623560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6112" y="3657600"/>
            <a:ext cx="2057400" cy="310896"/>
          </a:xfrm>
          <a:prstGeom prst="roundRect">
            <a:avLst/>
          </a:prstGeom>
          <a:solidFill>
            <a:srgbClr val="8D7AE6"/>
          </a:solidFill>
          <a:ln w="11430">
            <a:solidFill>
              <a:srgbClr val="8D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Model / Data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200400" y="3666744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5142"/>
                </a:solidFill>
                <a:latin typeface="PingFang SC" panose="020B0400000000000000" charset="-122"/>
              </a:rPr>
              <a:t>MySQL 用户/画像/反馈 + Redis 缓存 + 2,500+ 菜谱种子数据</a:t>
            </a:r>
            <a:endParaRPr sz="89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511296" y="4059935"/>
            <a:ext cx="0" cy="219457"/>
          </a:xfrm>
          <a:prstGeom prst="line">
            <a:avLst/>
          </a:prstGeom>
          <a:ln w="11430">
            <a:solidFill>
              <a:srgbClr val="23A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3232" y="4297679"/>
            <a:ext cx="5623560" cy="5120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6112" y="4407407"/>
            <a:ext cx="2057400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AI Providers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00400" y="4416551"/>
            <a:ext cx="278892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90" b="0">
                <a:solidFill>
                  <a:srgbClr val="2A5142"/>
                </a:solidFill>
                <a:latin typeface="PingFang SC" panose="020B0400000000000000" charset="-122"/>
              </a:rPr>
              <a:t>Qwen-VL-Max / DeepSeek-Chat / Ollama 通过 Provider 抽象接入</a:t>
            </a:r>
            <a:endParaRPr sz="89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720840" y="1298448"/>
            <a:ext cx="4800600" cy="41605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59168" y="1572768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73B2E"/>
                </a:solidFill>
                <a:latin typeface="PingFang SC" panose="020B0400000000000000" charset="-122"/>
              </a:rPr>
              <a:t>工程难点</a:t>
            </a:r>
            <a:endParaRPr sz="18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114032" y="2039112"/>
            <a:ext cx="310896" cy="310896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571231" y="2020824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1">
                <a:solidFill>
                  <a:srgbClr val="173B2E"/>
                </a:solidFill>
                <a:latin typeface="PingFang SC" panose="020B0400000000000000" charset="-122"/>
              </a:rPr>
              <a:t>Agent 可观测</a:t>
            </a:r>
            <a:endParaRPr sz="112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95360" y="2020824"/>
            <a:ext cx="233172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667C72"/>
                </a:solidFill>
                <a:latin typeface="PingFang SC" panose="020B0400000000000000" charset="-122"/>
              </a:rPr>
              <a:t>返回 trace_id、stages、latency_ms、degraded，方便演示和定位。</a:t>
            </a:r>
            <a:endParaRPr sz="87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114032" y="2715768"/>
            <a:ext cx="310896" cy="310896"/>
          </a:xfrm>
          <a:prstGeom prst="ellipse">
            <a:avLst/>
          </a:prstGeom>
          <a:solidFill>
            <a:srgbClr val="4B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571231" y="2697479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1">
                <a:solidFill>
                  <a:srgbClr val="173B2E"/>
                </a:solidFill>
                <a:latin typeface="PingFang SC" panose="020B0400000000000000" charset="-122"/>
              </a:rPr>
              <a:t>不伪造识别</a:t>
            </a:r>
            <a:endParaRPr sz="112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95360" y="2697479"/>
            <a:ext cx="233172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667C72"/>
                </a:solidFill>
                <a:latin typeface="PingFang SC" panose="020B0400000000000000" charset="-122"/>
              </a:rPr>
              <a:t>VLM 不可用时不再用假食材冒充结果；当前仍有状态字段测试分歧。</a:t>
            </a:r>
            <a:endParaRPr sz="87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114032" y="3392424"/>
            <a:ext cx="310896" cy="310896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71231" y="3374136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1">
                <a:solidFill>
                  <a:srgbClr val="173B2E"/>
                </a:solidFill>
                <a:latin typeface="PingFang SC" panose="020B0400000000000000" charset="-122"/>
              </a:rPr>
              <a:t>推荐可解释</a:t>
            </a:r>
            <a:endParaRPr sz="112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595360" y="3374136"/>
            <a:ext cx="233172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667C72"/>
                </a:solidFill>
                <a:latin typeface="PingFang SC" panose="020B0400000000000000" charset="-122"/>
              </a:rPr>
              <a:t>硬过滤时间，软排序按食材/标签/偏好加权，返回 reasons。</a:t>
            </a:r>
            <a:endParaRPr sz="87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114032" y="4069079"/>
            <a:ext cx="310896" cy="310896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71231" y="4050791"/>
            <a:ext cx="1143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20" b="1">
                <a:solidFill>
                  <a:srgbClr val="173B2E"/>
                </a:solidFill>
                <a:latin typeface="PingFang SC" panose="020B0400000000000000" charset="-122"/>
              </a:rPr>
              <a:t>任务可执行</a:t>
            </a:r>
            <a:endParaRPr sz="112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595360" y="4050791"/>
            <a:ext cx="2331720" cy="2834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667C72"/>
                </a:solidFill>
                <a:latin typeface="PingFang SC" panose="020B0400000000000000" charset="-122"/>
              </a:rPr>
              <a:t>同名同单位数量累加；单位不兼容时保留独立条目。</a:t>
            </a:r>
            <a:endParaRPr sz="87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14032" y="491947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3A978"/>
                </a:solidFill>
                <a:latin typeface="PingFang SC" panose="020B0400000000000000" charset="-122"/>
              </a:rPr>
              <a:t>核心原则：前端只呈现流程与状态；后端保持业务编排、模型接入、数据一致性。</a:t>
            </a:r>
            <a:endParaRPr sz="10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502920"/>
            <a:ext cx="2834640" cy="2834640"/>
          </a:xfrm>
          <a:prstGeom prst="ellipse">
            <a:avLst/>
          </a:prstGeom>
          <a:solidFill>
            <a:srgbClr val="D3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65760"/>
            <a:ext cx="3474720" cy="228600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5897880"/>
            <a:ext cx="2468880" cy="123444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715000"/>
            <a:ext cx="2286000" cy="164592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419088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SCALE &amp; VERIFICATION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54864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73B2E"/>
                </a:solidFill>
                <a:latin typeface="PingFang SC" panose="020B0400000000000000" charset="-122"/>
              </a:rPr>
              <a:t>软件规模与验证证据</a:t>
            </a:r>
            <a:endParaRPr sz="25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18520" y="39319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667C72"/>
                </a:solidFill>
                <a:latin typeface="PingFang SC" panose="020B0400000000000000" charset="-122"/>
              </a:rPr>
              <a:t>04/05</a:t>
            </a:r>
            <a:endParaRPr sz="90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1325880"/>
            <a:ext cx="33375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149047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67C72"/>
                </a:solidFill>
                <a:latin typeface="PingFang SC" panose="020B0400000000000000" charset="-122"/>
              </a:rPr>
              <a:t>核心用例/接口</a:t>
            </a:r>
            <a:endParaRPr sz="95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5256" y="170992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73B2E"/>
                </a:solidFill>
                <a:latin typeface="PingFang SC" panose="020B0400000000000000" charset="-122"/>
              </a:rPr>
              <a:t>11+</a:t>
            </a:r>
            <a:endParaRPr sz="22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8840" y="169164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0">
                <a:solidFill>
                  <a:srgbClr val="2A5142"/>
                </a:solidFill>
                <a:latin typeface="PingFang SC" panose="020B0400000000000000" charset="-122"/>
              </a:rPr>
              <a:t>覆盖登录、识别、推荐、清单、反馈、Agent</a:t>
            </a:r>
            <a:endParaRPr sz="82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9120" y="1325880"/>
            <a:ext cx="33375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6" y="149047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67C72"/>
                </a:solidFill>
                <a:latin typeface="PingFang SC" panose="020B0400000000000000" charset="-122"/>
              </a:rPr>
              <a:t>核心源文件</a:t>
            </a:r>
            <a:endParaRPr sz="95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08576" y="170992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73B2E"/>
                </a:solidFill>
                <a:latin typeface="PingFang SC" panose="020B0400000000000000" charset="-122"/>
              </a:rPr>
              <a:t>79</a:t>
            </a:r>
            <a:endParaRPr sz="22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69164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0">
                <a:solidFill>
                  <a:srgbClr val="2A5142"/>
                </a:solidFill>
                <a:latin typeface="PingFang SC" panose="020B0400000000000000" charset="-122"/>
              </a:rPr>
              <a:t>app + bsapp/src + tests + demo_tests</a:t>
            </a:r>
            <a:endParaRPr sz="82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92440" y="1325880"/>
            <a:ext cx="33375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149047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67C72"/>
                </a:solidFill>
                <a:latin typeface="PingFang SC" panose="020B0400000000000000" charset="-122"/>
              </a:rPr>
              <a:t>后端 Python</a:t>
            </a:r>
            <a:endParaRPr sz="95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1896" y="170992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73B2E"/>
                </a:solidFill>
                <a:latin typeface="PingFang SC" panose="020B0400000000000000" charset="-122"/>
              </a:rPr>
              <a:t>2,211 行</a:t>
            </a:r>
            <a:endParaRPr sz="22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555480" y="1691640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0">
                <a:solidFill>
                  <a:srgbClr val="2A5142"/>
                </a:solidFill>
                <a:latin typeface="PingFang SC" panose="020B0400000000000000" charset="-122"/>
              </a:rPr>
              <a:t>FastAPI / services / models / routers</a:t>
            </a:r>
            <a:endParaRPr sz="82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5800" y="2560320"/>
            <a:ext cx="33375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272491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67C72"/>
                </a:solidFill>
                <a:latin typeface="PingFang SC" panose="020B0400000000000000" charset="-122"/>
              </a:rPr>
              <a:t>前端代码</a:t>
            </a:r>
            <a:endParaRPr sz="95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05256" y="294436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73B2E"/>
                </a:solidFill>
                <a:latin typeface="PingFang SC" panose="020B0400000000000000" charset="-122"/>
              </a:rPr>
              <a:t>5,839 行</a:t>
            </a:r>
            <a:endParaRPr sz="22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8840" y="2926079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0">
                <a:solidFill>
                  <a:srgbClr val="2A5142"/>
                </a:solidFill>
                <a:latin typeface="PingFang SC" panose="020B0400000000000000" charset="-122"/>
              </a:rPr>
              <a:t>Vue 页面、API、store、i18n、样式</a:t>
            </a:r>
            <a:endParaRPr sz="82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389120" y="2560320"/>
            <a:ext cx="33375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08576" y="272491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667C72"/>
                </a:solidFill>
                <a:latin typeface="PingFang SC" panose="020B0400000000000000" charset="-122"/>
              </a:rPr>
              <a:t>自动化测试</a:t>
            </a:r>
            <a:endParaRPr sz="95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608576" y="2944368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73B2E"/>
                </a:solidFill>
                <a:latin typeface="PingFang SC" panose="020B0400000000000000" charset="-122"/>
              </a:rPr>
              <a:t>22/23</a:t>
            </a:r>
            <a:endParaRPr sz="22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852160" y="2926079"/>
            <a:ext cx="1554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0">
                <a:solidFill>
                  <a:srgbClr val="2A5142"/>
                </a:solidFill>
                <a:latin typeface="PingFang SC" panose="020B0400000000000000" charset="-122"/>
              </a:rPr>
              <a:t>当前 1 个 VLM fallback 状态断言待统一</a:t>
            </a:r>
            <a:endParaRPr sz="82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94944" y="4041648"/>
            <a:ext cx="5257800" cy="1325880"/>
          </a:xfrm>
          <a:prstGeom prst="roundRect">
            <a:avLst/>
          </a:prstGeom>
          <a:solidFill>
            <a:srgbClr val="E8F8F0"/>
          </a:solidFill>
          <a:ln w="11430">
            <a:solidFill>
              <a:srgbClr val="23A9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27024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73B2E"/>
                </a:solidFill>
                <a:latin typeface="PingFang SC" panose="020B0400000000000000" charset="-122"/>
              </a:rPr>
              <a:t>验证覆盖</a:t>
            </a:r>
            <a:endParaRPr sz="14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960120" y="4681728"/>
            <a:ext cx="758952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Auth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892808" y="4681728"/>
            <a:ext cx="758952" cy="310896"/>
          </a:xfrm>
          <a:prstGeom prst="roundRect">
            <a:avLst/>
          </a:prstGeom>
          <a:solidFill>
            <a:srgbClr val="4BA7C8"/>
          </a:solidFill>
          <a:ln w="11430">
            <a:solidFill>
              <a:srgbClr val="4BA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Sense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825496" y="4681728"/>
            <a:ext cx="758952" cy="310896"/>
          </a:xfrm>
          <a:prstGeom prst="roundRect">
            <a:avLst/>
          </a:prstGeom>
          <a:solidFill>
            <a:srgbClr val="F2B75B"/>
          </a:solidFill>
          <a:ln w="11430">
            <a:solidFill>
              <a:srgbClr val="F2B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00" b="1">
                <a:solidFill>
                  <a:srgbClr val="173B2E"/>
                </a:solidFill>
                <a:latin typeface="PingFang SC" panose="020B0400000000000000" charset="-122"/>
              </a:rPr>
              <a:t>Decision</a:t>
            </a:r>
            <a:endParaRPr sz="8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758184" y="4681728"/>
            <a:ext cx="758952" cy="310896"/>
          </a:xfrm>
          <a:prstGeom prst="roundRect">
            <a:avLst/>
          </a:prstGeom>
          <a:solidFill>
            <a:srgbClr val="8D7AE6"/>
          </a:solidFill>
          <a:ln w="11430">
            <a:solidFill>
              <a:srgbClr val="8D7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Shopping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4690872" y="4681728"/>
            <a:ext cx="758952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PingFang SC" panose="020B0400000000000000" charset="-122"/>
              </a:rPr>
              <a:t>Agent</a:t>
            </a:r>
            <a:endParaRPr sz="80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0120" y="508406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A5142"/>
                </a:solidFill>
                <a:latin typeface="PingFang SC" panose="020B0400000000000000" charset="-122"/>
              </a:rPr>
              <a:t>同时完成 H5 构建与 Docker Compose 运行文档；演示主线可前端跑，接口可 Swagger 兜底。</a:t>
            </a:r>
            <a:endParaRPr sz="95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446520" y="4041648"/>
            <a:ext cx="498348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42702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D46B5D"/>
                </a:solidFill>
                <a:latin typeface="PingFang SC" panose="020B0400000000000000" charset="-122"/>
              </a:rPr>
              <a:t>当前风险如实披露</a:t>
            </a:r>
            <a:endParaRPr sz="1400" b="1">
              <a:solidFill>
                <a:srgbClr val="D46B5D"/>
              </a:solidFill>
              <a:latin typeface="PingFang SC" panose="020B0400000000000000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720840" y="4663440"/>
            <a:ext cx="40690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A5142"/>
                </a:solidFill>
                <a:latin typeface="PingFang SC" panose="020B0400000000000000" charset="-122"/>
              </a:rPr>
              <a:t>测试期望 VLM 不可用时 status=error；当前实现返回 success + empty + hint。演示时应优先保证真实 VLM 配置，后续统一 API 语义。</a:t>
            </a:r>
            <a:endParaRPr sz="100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49808" y="5897880"/>
            <a:ext cx="9875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667C72"/>
                </a:solidFill>
                <a:latin typeface="PingFang SC" panose="020B0400000000000000" charset="-122"/>
              </a:rPr>
              <a:t>全量工程含菜谱种子数据约 146k 行；答辩中主讲核心代码规模，避免用数据文件堆指标。</a:t>
            </a:r>
            <a:endParaRPr sz="900" b="0">
              <a:solidFill>
                <a:srgbClr val="667C72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-502920"/>
            <a:ext cx="2834640" cy="2834640"/>
          </a:xfrm>
          <a:prstGeom prst="ellipse">
            <a:avLst/>
          </a:prstGeom>
          <a:solidFill>
            <a:srgbClr val="D3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365760"/>
            <a:ext cx="3474720" cy="2286000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228600" y="5897880"/>
            <a:ext cx="2468880" cy="1234440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5715000"/>
            <a:ext cx="2286000" cy="1645920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11480" y="502920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419088"/>
            <a:ext cx="11338560" cy="0"/>
          </a:xfrm>
          <a:prstGeom prst="line">
            <a:avLst/>
          </a:prstGeom>
          <a:ln w="7620">
            <a:solidFill>
              <a:srgbClr val="C9E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74320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LIVE DEMO ROUTE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548640"/>
            <a:ext cx="80467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173B2E"/>
                </a:solidFill>
                <a:latin typeface="PingFang SC" panose="020B0400000000000000" charset="-122"/>
              </a:rPr>
              <a:t>现场演示路线：前端为主，API 兜底</a:t>
            </a:r>
            <a:endParaRPr sz="25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18520" y="393192"/>
            <a:ext cx="7315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667C72"/>
                </a:solidFill>
                <a:latin typeface="PingFang SC" panose="020B0400000000000000" charset="-122"/>
              </a:rPr>
              <a:t>05/05</a:t>
            </a:r>
            <a:endParaRPr sz="90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13232" y="1207008"/>
            <a:ext cx="2057400" cy="4828032"/>
          </a:xfrm>
          <a:prstGeom prst="roundRect">
            <a:avLst/>
          </a:prstGeom>
          <a:solidFill>
            <a:srgbClr val="173B2E"/>
          </a:solidFill>
          <a:ln w="11430">
            <a:solidFill>
              <a:srgbClr val="17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" y="1371600"/>
            <a:ext cx="1856231" cy="44988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ytesavor-agent-af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435608"/>
            <a:ext cx="1764792" cy="43708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69264" y="5504688"/>
            <a:ext cx="1545336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AI 对话 → 推荐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35808" y="1207008"/>
            <a:ext cx="2057400" cy="4828032"/>
          </a:xfrm>
          <a:prstGeom prst="roundRect">
            <a:avLst/>
          </a:prstGeom>
          <a:solidFill>
            <a:srgbClr val="173B2E"/>
          </a:solidFill>
          <a:ln w="11430">
            <a:solidFill>
              <a:srgbClr val="17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36391" y="1371600"/>
            <a:ext cx="1856231" cy="44988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ytesavor-nav-scan-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435608"/>
            <a:ext cx="1764792" cy="437083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291839" y="5504688"/>
            <a:ext cx="1545336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拍照识别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58384" y="1207008"/>
            <a:ext cx="2057400" cy="4828032"/>
          </a:xfrm>
          <a:prstGeom prst="roundRect">
            <a:avLst/>
          </a:prstGeom>
          <a:solidFill>
            <a:srgbClr val="173B2E"/>
          </a:solidFill>
          <a:ln w="11430">
            <a:solidFill>
              <a:srgbClr val="173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58968" y="1371600"/>
            <a:ext cx="1856231" cy="44988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ytesavor-health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435608"/>
            <a:ext cx="1764792" cy="437083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614416" y="5504688"/>
            <a:ext cx="1545336" cy="310896"/>
          </a:xfrm>
          <a:prstGeom prst="roundRect">
            <a:avLst/>
          </a:prstGeom>
          <a:solidFill>
            <a:srgbClr val="23A978"/>
          </a:solidFill>
          <a:ln w="11430">
            <a:solidFill>
              <a:srgbClr val="23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8900" rIns="88900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PingFang SC" panose="020B0400000000000000" charset="-122"/>
              </a:rPr>
              <a:t>健康看板</a:t>
            </a:r>
            <a:endParaRPr sz="850" b="1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882127" y="1335024"/>
            <a:ext cx="3931920" cy="38862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9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1609344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3B2E"/>
                </a:solidFill>
                <a:latin typeface="PingFang SC" panose="020B0400000000000000" charset="-122"/>
              </a:rPr>
              <a:t>10 分钟结构</a:t>
            </a:r>
            <a:endParaRPr sz="17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193024" y="2084831"/>
            <a:ext cx="292608" cy="292608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1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13648" y="2093975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A5142"/>
                </a:solidFill>
                <a:latin typeface="PingFang SC" panose="020B0400000000000000" charset="-122"/>
              </a:rPr>
              <a:t>登录账户 te，进入首页中枢</a:t>
            </a:r>
            <a:endParaRPr sz="95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8193024" y="2532887"/>
            <a:ext cx="292608" cy="292608"/>
          </a:xfrm>
          <a:prstGeom prst="ellipse">
            <a:avLst/>
          </a:prstGeom>
          <a:solidFill>
            <a:srgbClr val="4BA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2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13648" y="2542031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A5142"/>
                </a:solidFill>
                <a:latin typeface="PingFang SC" panose="020B0400000000000000" charset="-122"/>
              </a:rPr>
              <a:t>输入“牛肉南瓜减脂30分钟”</a:t>
            </a:r>
            <a:endParaRPr sz="95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193024" y="2980944"/>
            <a:ext cx="292608" cy="292608"/>
          </a:xfrm>
          <a:prstGeom prst="ellipse">
            <a:avLst/>
          </a:prstGeom>
          <a:solidFill>
            <a:srgbClr val="F2B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3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13648" y="2990087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A5142"/>
                </a:solidFill>
                <a:latin typeface="PingFang SC" panose="020B0400000000000000" charset="-122"/>
              </a:rPr>
              <a:t>查看 Agent 回复、推荐菜谱、食材标签</a:t>
            </a:r>
            <a:endParaRPr sz="95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193024" y="3429000"/>
            <a:ext cx="292608" cy="292608"/>
          </a:xfrm>
          <a:prstGeom prst="ellipse">
            <a:avLst/>
          </a:prstGeom>
          <a:solidFill>
            <a:srgbClr val="8D7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4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613648" y="343814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A5142"/>
                </a:solidFill>
                <a:latin typeface="PingFang SC" panose="020B0400000000000000" charset="-122"/>
              </a:rPr>
              <a:t>上传图片识别食材，展示真实 VLM 链路</a:t>
            </a:r>
            <a:endParaRPr sz="95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193024" y="3877056"/>
            <a:ext cx="292608" cy="292608"/>
          </a:xfrm>
          <a:prstGeom prst="ellipse">
            <a:avLst/>
          </a:prstGeom>
          <a:solidFill>
            <a:srgbClr val="23A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 panose="020B0604020202090204"/>
              </a:rPr>
              <a:t>5</a:t>
            </a:r>
            <a:endParaRPr sz="1400" b="1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13648" y="388620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A5142"/>
                </a:solidFill>
                <a:latin typeface="PingFang SC" panose="020B0400000000000000" charset="-122"/>
              </a:rPr>
              <a:t>合并购物清单，评分反馈写回偏好</a:t>
            </a:r>
            <a:endParaRPr sz="950" b="0">
              <a:solidFill>
                <a:srgbClr val="2A5142"/>
              </a:solidFill>
              <a:latin typeface="PingFang SC" panose="020B0400000000000000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83879" y="4498848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173B2E"/>
                </a:solidFill>
                <a:latin typeface="PingFang SC" panose="020B0400000000000000" charset="-122"/>
              </a:rPr>
              <a:t>兜底接口</a:t>
            </a:r>
            <a:endParaRPr sz="120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247888" y="4800600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/v1/agent/execute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47888" y="5020056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/v1/decision/meal-plan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47888" y="5239512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>
                <a:solidFill>
                  <a:srgbClr val="23A978"/>
                </a:solidFill>
                <a:latin typeface="PingFang SC" panose="020B0400000000000000" charset="-122"/>
              </a:rPr>
              <a:t>/v1/task/merge-list</a:t>
            </a:r>
            <a:endParaRPr sz="850" b="1">
              <a:solidFill>
                <a:srgbClr val="23A978"/>
              </a:solidFill>
              <a:latin typeface="PingFang SC" panose="020B0400000000000000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83879" y="553212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73B2E"/>
                </a:solidFill>
                <a:latin typeface="PingFang SC" panose="020B0400000000000000" charset="-122"/>
              </a:rPr>
              <a:t>收束句：我们不是做一个菜谱 App，而是把感知、决策、执行、反馈做成一条可追踪、可执行、会学习的饮食 Agent 链路。</a:t>
            </a:r>
            <a:endParaRPr sz="1050" b="1">
              <a:solidFill>
                <a:srgbClr val="173B2E"/>
              </a:solidFill>
              <a:latin typeface="PingFang SC" panose="020B0400000000000000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5872" y="6291072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667C72"/>
                </a:solidFill>
                <a:latin typeface="PingFang SC" panose="020B0400000000000000" charset="-122"/>
              </a:rPr>
              <a:t>THANKS</a:t>
            </a:r>
            <a:endParaRPr sz="1000" b="1">
              <a:solidFill>
                <a:srgbClr val="667C72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1867</Words>
  <Application>WPS 演示</Application>
  <PresentationFormat>On-screen Show (4:3)</PresentationFormat>
  <Paragraphs>268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李文彬</cp:lastModifiedBy>
  <cp:revision>2</cp:revision>
  <dcterms:created xsi:type="dcterms:W3CDTF">2026-06-14T09:56:36Z</dcterms:created>
  <dcterms:modified xsi:type="dcterms:W3CDTF">2026-06-14T09:56:36Z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707B7E2595922B7DD47A2E6A775763E8_42</vt:lpwstr>
  </property>
</Properties>
</file>