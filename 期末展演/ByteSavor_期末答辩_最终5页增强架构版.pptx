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06840" y="-201168"/>
            <a:ext cx="3017520" cy="16002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85248" y="5230368"/>
            <a:ext cx="2057400" cy="1170432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438912" y="5102352"/>
            <a:ext cx="2651760" cy="1554480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3474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000" b="1">
                <a:solidFill>
                  <a:srgbClr val="1B7F5F"/>
                </a:solidFill>
                <a:latin typeface="PingFang SC"/>
              </a:defRPr>
            </a:pPr>
            <a:r>
              <a:t>ByteSavor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6294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173B2E"/>
                </a:solidFill>
                <a:latin typeface="PingFang SC"/>
              </a:defRPr>
            </a:pPr>
            <a:r>
              <a:t>基于多模态 Agent 的</a:t>
            </a:r>
            <a:br/>
            <a:r>
              <a:t>全场景饮食全链路解析系统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5943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0">
                <a:solidFill>
                  <a:srgbClr val="5C6B63"/>
                </a:solidFill>
                <a:latin typeface="PingFang SC"/>
              </a:defRPr>
            </a:pPr>
            <a:r>
              <a:t>从看见食物，到推荐、执行、记录和长期偏好学习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914400"/>
            <a:ext cx="3063240" cy="5120640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16952" y="1143000"/>
            <a:ext cx="2633472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417320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73B2E"/>
                </a:solidFill>
                <a:latin typeface="PingFang SC"/>
              </a:defRPr>
            </a:pPr>
            <a:r>
              <a:t>今日饮食总控台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1783080"/>
            <a:ext cx="2148840" cy="804672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993392"/>
            <a:ext cx="1097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B7F5F"/>
                </a:solidFill>
                <a:latin typeface="PingFang SC"/>
              </a:defRPr>
            </a:pPr>
            <a:r>
              <a:t>健康分 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67712"/>
            <a:ext cx="1188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C6B63"/>
                </a:solidFill>
                <a:latin typeface="PingFang SC"/>
              </a:defRPr>
            </a:pPr>
            <a:r>
              <a:t>蛋白质还缺 24g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2880360"/>
            <a:ext cx="932688" cy="59436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3108960"/>
            <a:ext cx="786384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30" b="1">
                <a:solidFill>
                  <a:srgbClr val="173B2E"/>
                </a:solidFill>
                <a:latin typeface="PingFang SC"/>
              </a:defRPr>
            </a:pPr>
            <a:r>
              <a:t>拍照识别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2880360"/>
            <a:ext cx="932688" cy="594360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3108960"/>
            <a:ext cx="786384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30" b="1">
                <a:solidFill>
                  <a:srgbClr val="173B2E"/>
                </a:solidFill>
                <a:latin typeface="PingFang SC"/>
              </a:defRPr>
            </a:pPr>
            <a:r>
              <a:t>营养分析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3703320"/>
            <a:ext cx="932688" cy="594360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3931920"/>
            <a:ext cx="786384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30" b="1">
                <a:solidFill>
                  <a:srgbClr val="173B2E"/>
                </a:solidFill>
                <a:latin typeface="PingFang SC"/>
              </a:defRPr>
            </a:pPr>
            <a:r>
              <a:t>品质鉴定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3703320"/>
            <a:ext cx="932688" cy="59436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3931920"/>
            <a:ext cx="786384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30" b="1">
                <a:solidFill>
                  <a:srgbClr val="173B2E"/>
                </a:solidFill>
                <a:latin typeface="PingFang SC"/>
              </a:defRPr>
            </a:pPr>
            <a:r>
              <a:t>探店向导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4617720"/>
            <a:ext cx="2148840" cy="658368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837176"/>
            <a:ext cx="1874519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50" b="1">
                <a:solidFill>
                  <a:srgbClr val="173B2E"/>
                </a:solidFill>
                <a:latin typeface="PingFang SC"/>
              </a:defRPr>
            </a:pPr>
            <a:r>
              <a:t>Agent：牛肉南瓜，30分钟减脂餐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230368"/>
            <a:ext cx="25603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B7F5F"/>
                </a:solidFill>
                <a:latin typeface="PingFang SC"/>
              </a:defRPr>
            </a:pPr>
            <a: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528523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73B2E"/>
                </a:solidFill>
                <a:latin typeface="PingFang SC"/>
              </a:defRPr>
            </a:pPr>
            <a:r>
              <a:t>感知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64792" y="5449824"/>
            <a:ext cx="246888" cy="0"/>
          </a:xfrm>
          <a:prstGeom prst="line">
            <a:avLst/>
          </a:prstGeom>
          <a:ln w="2032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03120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67712" y="5230368"/>
            <a:ext cx="25603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B7F5F"/>
                </a:solidFill>
                <a:latin typeface="PingFang SC"/>
              </a:defRPr>
            </a:pPr>
            <a:r>
              <a:t>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528523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73B2E"/>
                </a:solidFill>
                <a:latin typeface="PingFang SC"/>
              </a:defRPr>
            </a:pPr>
            <a:r>
              <a:t>决策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5449824"/>
            <a:ext cx="246888" cy="0"/>
          </a:xfrm>
          <a:prstGeom prst="line">
            <a:avLst/>
          </a:prstGeom>
          <a:ln w="2032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29000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5230368"/>
            <a:ext cx="25603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B7F5F"/>
                </a:solidFill>
                <a:latin typeface="PingFang SC"/>
              </a:defRPr>
            </a:pPr>
            <a: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67912" y="528523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73B2E"/>
                </a:solidFill>
                <a:latin typeface="PingFang SC"/>
              </a:defRPr>
            </a:pPr>
            <a:r>
              <a:t>执行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5449824"/>
            <a:ext cx="246888" cy="0"/>
          </a:xfrm>
          <a:prstGeom prst="line">
            <a:avLst/>
          </a:prstGeom>
          <a:ln w="2032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754879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1" y="5230368"/>
            <a:ext cx="25603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B7F5F"/>
                </a:solidFill>
                <a:latin typeface="PingFang SC"/>
              </a:defRPr>
            </a:pPr>
            <a: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3792" y="528523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73B2E"/>
                </a:solidFill>
                <a:latin typeface="PingFang SC"/>
              </a:defRPr>
            </a:pPr>
            <a:r>
              <a:t>反馈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3767328"/>
            <a:ext cx="594360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968496"/>
            <a:ext cx="868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1">
                <a:solidFill>
                  <a:srgbClr val="1B7F5F"/>
                </a:solidFill>
                <a:latin typeface="PingFang SC"/>
              </a:defRPr>
            </a:pPr>
            <a:r>
              <a:t>完整闭环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3950208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73B2E"/>
                </a:solidFill>
                <a:latin typeface="PingFang SC"/>
              </a:defRPr>
            </a:pPr>
            <a:r>
              <a:t>拍照识别 -&gt; 智能决策 -&gt; 菜谱推荐 -&gt; 清单执行 -&gt; 确认摄入 -&gt; 营养记录 -&gt; 偏好学习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279392"/>
            <a:ext cx="5074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C6B63"/>
                </a:solidFill>
                <a:latin typeface="PingFang SC"/>
              </a:defRPr>
            </a:pPr>
            <a:r>
              <a:t>这条链路保证“看见食物”以后能继续落到行动和长期记忆，而不是停在一次 API 返回。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053328"/>
            <a:ext cx="7772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5C6B63"/>
                </a:solidFill>
                <a:latin typeface="PingFang SC"/>
              </a:defRPr>
            </a:pPr>
            <a:r>
              <a:t>功能概览 · 技术栈/技术难点 · 软件规模 · 角色化测试 · 现场演示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B7F5F"/>
                </a:solidFill>
                <a:latin typeface="PingFang SC"/>
              </a:defRPr>
            </a:pPr>
            <a:r>
              <a:t>BASELINE TO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6217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73B2E"/>
                </a:solidFill>
                <a:latin typeface="PingFang SC"/>
              </a:defRPr>
            </a:pPr>
            <a:r>
              <a:t>从离散工具到 BYTE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046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20" b="0">
                <a:solidFill>
                  <a:srgbClr val="5C6B63"/>
                </a:solidFill>
                <a:latin typeface="PingFang SC"/>
              </a:defRPr>
            </a:pPr>
            <a:r>
              <a:t>原始 Baseline 的核心问题不是“没有 App”，而是识别、营养、菜谱、购物、反馈互相断开。ByteSavor 的改进点是把这些节点连接成一个可执行流程。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02920"/>
            <a:ext cx="914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200" b="1">
                <a:solidFill>
                  <a:srgbClr val="5C6B63"/>
                </a:solidFill>
                <a:latin typeface="PingFang SC"/>
              </a:defRPr>
            </a:pPr>
            <a:r>
              <a:t>02/05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489204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21945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173B2E"/>
                </a:solidFill>
                <a:latin typeface="PingFang SC"/>
              </a:defRPr>
            </a:pPr>
            <a:r>
              <a:t>Baseline：离散与断层</a:t>
            </a:r>
          </a:p>
        </p:txBody>
      </p:sp>
      <p:sp>
        <p:nvSpPr>
          <p:cNvPr id="8" name="Oval 7"/>
          <p:cNvSpPr/>
          <p:nvPr/>
        </p:nvSpPr>
        <p:spPr>
          <a:xfrm>
            <a:off x="950976" y="254203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624327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19" b="1">
                <a:solidFill>
                  <a:srgbClr val="F4B957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9689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9689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0">
                <a:solidFill>
                  <a:srgbClr val="5C6B63"/>
                </a:solidFill>
                <a:latin typeface="PingFang SC"/>
              </a:defRPr>
            </a:pPr>
            <a:r>
              <a:t>只能知道“是什么”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" y="304495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27248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19" b="1">
                <a:solidFill>
                  <a:srgbClr val="F4B957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9981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菜谱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09981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0">
                <a:solidFill>
                  <a:srgbClr val="5C6B63"/>
                </a:solidFill>
                <a:latin typeface="PingFang SC"/>
              </a:defRPr>
            </a:pPr>
            <a:r>
              <a:t>单点搜索，缺少约束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4787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30168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19" b="1">
                <a:solidFill>
                  <a:srgbClr val="F4B957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0273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营养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60273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0">
                <a:solidFill>
                  <a:srgbClr val="5C6B63"/>
                </a:solidFill>
                <a:latin typeface="PingFang SC"/>
              </a:defRPr>
            </a:pPr>
            <a:r>
              <a:t>另开工具手动换算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" y="4050791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133087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19" b="1">
                <a:solidFill>
                  <a:srgbClr val="F4B957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05655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105655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0">
                <a:solidFill>
                  <a:srgbClr val="5C6B63"/>
                </a:solidFill>
                <a:latin typeface="PingFang SC"/>
              </a:defRPr>
            </a:pPr>
            <a:r>
              <a:t>重复整理、难导出</a:t>
            </a:r>
          </a:p>
        </p:txBody>
      </p:sp>
      <p:sp>
        <p:nvSpPr>
          <p:cNvPr id="24" name="Oval 23"/>
          <p:cNvSpPr/>
          <p:nvPr/>
        </p:nvSpPr>
        <p:spPr>
          <a:xfrm>
            <a:off x="950976" y="455371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636008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19" b="1">
                <a:solidFill>
                  <a:srgbClr val="F4B957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0857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60857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0">
                <a:solidFill>
                  <a:srgbClr val="5C6B63"/>
                </a:solidFill>
                <a:latin typeface="PingFang SC"/>
              </a:defRPr>
            </a:pPr>
            <a:r>
              <a:t>评价不回流推荐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5230368"/>
            <a:ext cx="4160520" cy="347472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340096"/>
            <a:ext cx="3886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0">
                <a:solidFill>
                  <a:srgbClr val="5C6B63"/>
                </a:solidFill>
                <a:latin typeface="PingFang SC"/>
              </a:defRPr>
            </a:pPr>
            <a:r>
              <a:t>结果：信息到行动之间存在多次手动跳转，现场演示容易变成“打开多个工具”。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1783080"/>
            <a:ext cx="5440680" cy="3977639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084831"/>
            <a:ext cx="34747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ByteSavor：Agent 全链路闭环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1B7F5F"/>
                </a:solidFill>
                <a:latin typeface="PingFang SC"/>
              </a:defRPr>
            </a:pPr>
            <a: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69" b="1">
                <a:solidFill>
                  <a:srgbClr val="173B2E"/>
                </a:solidFill>
                <a:latin typeface="PingFang SC"/>
              </a:defRPr>
            </a:pPr>
            <a:r>
              <a:t>Sense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/>
              </a:defRPr>
            </a:pPr>
            <a:r>
              <a:t>图片/文本输入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3291840"/>
            <a:ext cx="137160" cy="0"/>
          </a:xfrm>
          <a:prstGeom prst="line">
            <a:avLst/>
          </a:prstGeom>
          <a:ln w="1905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571231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9831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F4B957"/>
                </a:solidFill>
                <a:latin typeface="PingFang SC"/>
              </a:defRPr>
            </a:pPr>
            <a:r>
              <a:t>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0104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69" b="1">
                <a:solidFill>
                  <a:srgbClr val="173B2E"/>
                </a:solidFill>
                <a:latin typeface="PingFang SC"/>
              </a:defRPr>
            </a:pPr>
            <a:r>
              <a:t>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1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/>
              </a:defRPr>
            </a:pPr>
            <a:r>
              <a:t>推荐 + 营养缺口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58784" y="3291840"/>
            <a:ext cx="137160" cy="0"/>
          </a:xfrm>
          <a:prstGeom prst="line">
            <a:avLst/>
          </a:prstGeom>
          <a:ln w="1905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741664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0264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5C56B1"/>
                </a:solidFill>
                <a:latin typeface="PingFang SC"/>
              </a:defRPr>
            </a:pPr>
            <a: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536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69" b="1">
                <a:solidFill>
                  <a:srgbClr val="173B2E"/>
                </a:solidFill>
                <a:latin typeface="PingFang SC"/>
              </a:defRPr>
            </a:pPr>
            <a:r>
              <a:t>Task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/>
              </a:defRPr>
            </a:pPr>
            <a:r>
              <a:t>清单合并 + 导出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29216" y="3291840"/>
            <a:ext cx="137160" cy="0"/>
          </a:xfrm>
          <a:prstGeom prst="line">
            <a:avLst/>
          </a:prstGeom>
          <a:ln w="1905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12096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0696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1B7F5F"/>
                </a:solidFill>
                <a:latin typeface="PingFang SC"/>
              </a:defRPr>
            </a:pPr>
            <a:r>
              <a:t>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0968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69" b="1">
                <a:solidFill>
                  <a:srgbClr val="173B2E"/>
                </a:solidFill>
                <a:latin typeface="PingFang SC"/>
              </a:defRPr>
            </a:pPr>
            <a:r>
              <a:t>Feedback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03536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/>
              </a:defRPr>
            </a:pPr>
            <a:r>
              <a:t>评分学习偏好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6629400" y="3886200"/>
            <a:ext cx="3383280" cy="548640"/>
          </a:xfrm>
          <a:prstGeom prst="line">
            <a:avLst/>
          </a:prstGeom>
          <a:ln w="2286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00800" y="4681728"/>
            <a:ext cx="4617720" cy="566928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56832" y="4882896"/>
            <a:ext cx="41605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1">
                <a:solidFill>
                  <a:srgbClr val="173B2E"/>
                </a:solidFill>
                <a:latin typeface="PingFang SC"/>
              </a:defRPr>
            </a:pPr>
            <a:r>
              <a:t>每次调用保留 trace_id / stages / latency / degraded，能解释、能兜底、能复盘。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FFFFFF"/>
                </a:solidFill>
                <a:latin typeface="PingFang SC"/>
              </a:defRPr>
            </a:pPr>
            <a:r>
              <a:t>技术框架：从前端体验到 Agent 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C9E1D5"/>
                </a:solidFill>
                <a:latin typeface="PingFang SC"/>
              </a:defRPr>
            </a:pPr>
            <a:r>
              <a:t>把用户看到的角色页面，映射到后端 API、Agent 编排、工具服务、数据记忆和外部模型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34440"/>
            <a:ext cx="10744200" cy="493776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35024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1">
                <a:solidFill>
                  <a:srgbClr val="173B2E"/>
                </a:solidFill>
                <a:latin typeface="PingFang SC"/>
              </a:defRPr>
            </a:pPr>
            <a:r>
              <a:t>前端体验层</a:t>
            </a:r>
            <a:br/>
            <a:r>
              <a:t>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1380744"/>
            <a:ext cx="8183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173B2E"/>
                </a:solidFill>
                <a:latin typeface="PingFang SC"/>
              </a:defRPr>
            </a:pPr>
            <a:r>
              <a:t>首页总控台 / 拍照识别 / 营养看板 / 品质鉴定 / 探店向导 / 文本导入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737360"/>
            <a:ext cx="0" cy="164592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3232" y="1920240"/>
            <a:ext cx="10744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0824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1">
                <a:solidFill>
                  <a:srgbClr val="1B7F5F"/>
                </a:solidFill>
                <a:latin typeface="PingFang SC"/>
              </a:defRPr>
            </a:pPr>
            <a:r>
              <a:t>API 接入层</a:t>
            </a:r>
            <a:br/>
            <a:r>
              <a:t>FastAPI Routers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066544"/>
            <a:ext cx="8183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5C6B63"/>
                </a:solidFill>
                <a:latin typeface="PingFang SC"/>
              </a:defRPr>
            </a:pPr>
            <a:r>
              <a:t>auth / sense / decision / meals / feedback / nutrition / quality / guide / agent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423160"/>
            <a:ext cx="0" cy="164592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" y="2606040"/>
            <a:ext cx="10744200" cy="493776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06624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1">
                <a:solidFill>
                  <a:srgbClr val="173B2E"/>
                </a:solidFill>
                <a:latin typeface="PingFang SC"/>
              </a:defRPr>
            </a:pPr>
            <a:r>
              <a:t>Agent 编排层</a:t>
            </a:r>
            <a:br/>
            <a:r>
              <a:t>LangGraph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52344"/>
            <a:ext cx="8183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173B2E"/>
                </a:solidFill>
                <a:latin typeface="PingFang SC"/>
              </a:defRPr>
            </a:pPr>
            <a:r>
              <a:t>Planner -&gt; Tool Start -&gt; Tool Result -&gt; Final；输出 trace_id / stages / latency / degraded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108960"/>
            <a:ext cx="0" cy="164592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3291840"/>
            <a:ext cx="10744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92424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1">
                <a:solidFill>
                  <a:srgbClr val="1B7F5F"/>
                </a:solidFill>
                <a:latin typeface="PingFang SC"/>
              </a:defRPr>
            </a:pPr>
            <a:r>
              <a:t>工具服务层</a:t>
            </a:r>
            <a:br/>
            <a:r>
              <a:t>B-Y-T-E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438144"/>
            <a:ext cx="8183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5C6B63"/>
                </a:solidFill>
                <a:latin typeface="PingFang SC"/>
              </a:defRPr>
            </a:pPr>
            <a:r>
              <a:t>B Better Perception · Y Yielding Decisions · T Task Automation · E Evolving Feedback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794760"/>
            <a:ext cx="0" cy="164592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3232" y="3977639"/>
            <a:ext cx="10744200" cy="493776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78224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1">
                <a:solidFill>
                  <a:srgbClr val="173B2E"/>
                </a:solidFill>
                <a:latin typeface="PingFang SC"/>
              </a:defRPr>
            </a:pPr>
            <a:r>
              <a:t>数据与记忆层</a:t>
            </a:r>
            <a:br/>
            <a:r>
              <a:t>Data &amp;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4123944"/>
            <a:ext cx="8183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173B2E"/>
                </a:solidFill>
                <a:latin typeface="PingFang SC"/>
              </a:defRPr>
            </a:pPr>
            <a:r>
              <a:t>MySQL: User/Profile/MealRecord/PreferenceMemory/Recipe；Redis 缓存；2576+ 菜谱数据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4480559"/>
            <a:ext cx="0" cy="164593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4663440"/>
            <a:ext cx="10744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64024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1">
                <a:solidFill>
                  <a:srgbClr val="1B7F5F"/>
                </a:solidFill>
                <a:latin typeface="PingFang SC"/>
              </a:defRPr>
            </a:pPr>
            <a:r>
              <a:t>外部模型层</a:t>
            </a:r>
            <a:br/>
            <a:r>
              <a:t>Model Providers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4809744"/>
            <a:ext cx="8183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5C6B63"/>
                </a:solidFill>
                <a:latin typeface="PingFang SC"/>
              </a:defRPr>
            </a:pPr>
            <a:r>
              <a:t>VLM 负责看图；LLM 负责意图、讲解和偏好解析；失败时记录降级而非伪造 mock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23560"/>
            <a:ext cx="10469880" cy="475488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797296"/>
            <a:ext cx="98755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PingFang SC"/>
              </a:defRPr>
            </a:pPr>
            <a:r>
              <a:t>关键难点：前端交互状态、Agent stage 追踪、多模态结构化、推荐 fallback、确认摄入边界、长期营养/偏好记忆一致性。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73B2E"/>
                </a:solidFill>
                <a:latin typeface="PingFang SC"/>
              </a:defRPr>
            </a:pPr>
            <a:r>
              <a:t>Agent 深度：不是聊天框，而是可追踪的工具编排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5C6B63"/>
                </a:solidFill>
                <a:latin typeface="PingFang SC"/>
              </a:defRPr>
            </a:pPr>
            <a:r>
              <a:t>独立角色页面保证可测；Agent 负责跨场景理解、调用工具、生成结果和学习反馈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0632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B7F5F"/>
                </a:solidFill>
                <a:latin typeface="PingFang SC"/>
              </a:defRPr>
            </a:pPr>
            <a:r>
              <a:t>1. 输入理解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37744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5C6B63"/>
                </a:solidFill>
                <a:latin typeface="PingFang SC"/>
              </a:defRPr>
            </a:pPr>
            <a:r>
              <a:t>自然语言 + 图片输入</a:t>
            </a:r>
            <a:br/>
            <a:r>
              <a:t>DeepSeek -&gt; Ollama -&gt; 规则兜底</a:t>
            </a:r>
            <a:br/>
            <a:r>
              <a:t>输出结构化意图：食材、目标、时间、模式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71800"/>
            <a:ext cx="2267712" cy="530352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182112"/>
            <a:ext cx="19202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60" b="1">
                <a:solidFill>
                  <a:srgbClr val="173B2E"/>
                </a:solidFill>
                <a:latin typeface="PingFang SC"/>
              </a:defRPr>
            </a:pPr>
            <a:r>
              <a:t>例：牛肉南瓜，30分钟减脂餐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23774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5C6B63"/>
                </a:solidFill>
                <a:latin typeface="PingFang SC"/>
              </a:defRPr>
            </a:pPr>
            <a:r>
              <a:t>价值：用户不需要理解系统有多少页面，Agent 先把任务拆开。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325880"/>
            <a:ext cx="3794760" cy="4206240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627632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2. 工具编排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03704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/>
              </a:defRPr>
            </a:pPr>
            <a:r>
              <a:t>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203704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/>
              </a:defRPr>
            </a:pPr>
            <a:r>
              <a:t>VLM 识别食材/菜品/品质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0448" y="2487168"/>
            <a:ext cx="0" cy="173736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2679192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825496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/>
              </a:defRPr>
            </a:pPr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825496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/>
              </a:defRPr>
            </a:pPr>
            <a:r>
              <a:t>食材 + 目标 + 偏好 + 缺口推荐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3108960"/>
            <a:ext cx="0" cy="173736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34840" y="3300984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447288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/>
              </a:defRPr>
            </a:pPr>
            <a:r>
              <a:t>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447288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/>
              </a:defRPr>
            </a:pPr>
            <a:r>
              <a:t>生成清单、计划、库存扣减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70448" y="3730752"/>
            <a:ext cx="0" cy="173736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34840" y="3922776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069080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/>
              </a:defRPr>
            </a:pPr>
            <a: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4069080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/>
              </a:defRPr>
            </a:pPr>
            <a:r>
              <a:t>评分文本 -&gt; 偏好记忆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92040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D9EFE5"/>
                </a:solidFill>
                <a:latin typeface="PingFang SC"/>
              </a:defRPr>
            </a:pPr>
            <a:r>
              <a:t>每个 stage 返回 status / latency_ms / degraded，让演示时能解释哪里慢、哪里降级。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325880"/>
            <a:ext cx="33832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162763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B7F5F"/>
                </a:solidFill>
                <a:latin typeface="PingFang SC"/>
              </a:defRPr>
            </a:pPr>
            <a:r>
              <a:t>3. 长期记忆回流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039112"/>
            <a:ext cx="256032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0">
                <a:solidFill>
                  <a:srgbClr val="5C6B63"/>
                </a:solidFill>
                <a:latin typeface="PingFang SC"/>
              </a:defRPr>
            </a:pPr>
            <a:r>
              <a:t>确认摄入写入 MealRecord</a:t>
            </a:r>
            <a:br/>
            <a:r>
              <a:t>每日/每周营养看板读取 completed 记录</a:t>
            </a:r>
            <a:br/>
            <a:r>
              <a:t>评分原因写入 preference_memories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30768" y="2971800"/>
            <a:ext cx="2542032" cy="786384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3182112"/>
            <a:ext cx="21031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/>
              </a:defRPr>
            </a:pPr>
            <a:r>
              <a:t>喜欢清淡少油、高蛋白</a:t>
            </a:r>
            <a:br/>
            <a:r>
              <a:t>=&gt; liked: light, high_protein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0768" y="4041648"/>
            <a:ext cx="2542032" cy="786384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4279392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/>
              </a:defRPr>
            </a:pPr>
            <a:r>
              <a:t>太油腻、不想再吃</a:t>
            </a:r>
            <a:br/>
            <a:r>
              <a:t>=&gt; avoid: oily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501091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5C6B63"/>
                </a:solidFill>
                <a:latin typeface="PingFang SC"/>
              </a:defRPr>
            </a:pPr>
            <a:r>
              <a:t>下一轮推荐读取 liked/avoid，对菜谱加权或降权。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73B2E"/>
                </a:solidFill>
                <a:latin typeface="PingFang SC"/>
              </a:defRPr>
            </a:pPr>
            <a:r>
              <a:t>角色化测试、软件规模与现场演示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5C6B63"/>
                </a:solidFill>
                <a:latin typeface="PingFang SC"/>
              </a:defRPr>
            </a:pPr>
            <a:r>
              <a:t>测试跟功能一一呼应，最后用一条主线演示 B-Y-T-E 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5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/>
              </a:defRPr>
            </a:pPr>
            <a:r>
              <a:t>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/>
              </a:defRPr>
            </a:pPr>
            <a:r>
              <a:t>目标/身高体重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1755648"/>
            <a:ext cx="292607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0672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/>
              </a:defRPr>
            </a:pPr>
            <a:r>
              <a:t>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/>
              </a:defRPr>
            </a:pPr>
            <a:r>
              <a:t>删改去重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1755648"/>
            <a:ext cx="292608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93792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8383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79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/>
              </a:defRPr>
            </a:pPr>
            <a:r>
              <a:t>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/>
              </a:defRPr>
            </a:pPr>
            <a:r>
              <a:t>营养占比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4031" y="1755648"/>
            <a:ext cx="292609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61504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26096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8392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/>
              </a:defRPr>
            </a:pPr>
            <a:r>
              <a:t>摄入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/>
              </a:defRPr>
            </a:pPr>
            <a:r>
              <a:t>写入看板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81744" y="1755648"/>
            <a:ext cx="292608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29216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93808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76104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4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/>
              </a:defRPr>
            </a:pPr>
            <a:r>
              <a:t>反馈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6144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/>
              </a:defRPr>
            </a:pPr>
            <a:r>
              <a:t>偏好记忆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2606040"/>
            <a:ext cx="6035040" cy="1993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50" b="1">
                <a:solidFill>
                  <a:srgbClr val="173B2E"/>
                </a:solidFill>
                <a:latin typeface="PingFang SC"/>
              </a:defRPr>
            </a:pPr>
            <a:r>
              <a:t>测试与功能对应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3154680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/>
              </a:defRPr>
            </a:pPr>
            <a:r>
              <a:t>家庭做饭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154680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/>
              </a:defRPr>
            </a:pPr>
            <a:r>
              <a:t>场景一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3154680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/>
              </a:defRPr>
            </a:pPr>
            <a:r>
              <a:t>识别/校正/推荐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3410712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/>
              </a:defRPr>
            </a:pPr>
            <a:r>
              <a:t>健康管理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3410712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/>
              </a:defRPr>
            </a:pPr>
            <a:r>
              <a:t>场景四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3410712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/>
              </a:defRPr>
            </a:pPr>
            <a:r>
              <a:t>确认摄入/删除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3666744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/>
              </a:defRPr>
            </a:pPr>
            <a:r>
              <a:t>买菜用户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3666744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/>
              </a:defRPr>
            </a:pPr>
            <a:r>
              <a:t>场景三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3666744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/>
              </a:defRPr>
            </a:pPr>
            <a:r>
              <a:t>品质鉴定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3922776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/>
              </a:defRPr>
            </a:pPr>
            <a:r>
              <a:t>探店用户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3922776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/>
              </a:defRPr>
            </a:pPr>
            <a:r>
              <a:t>场景五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4680" y="3922776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/>
              </a:defRPr>
            </a:pPr>
            <a:r>
              <a:t>故事口味吃法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4178808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/>
              </a:defRPr>
            </a:pPr>
            <a:r>
              <a:t>长期个性化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178808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/>
              </a:defRPr>
            </a:pPr>
            <a:r>
              <a:t>pytest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178808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/>
              </a:defRPr>
            </a:pPr>
            <a:r>
              <a:t>偏好记忆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14032" y="2606040"/>
            <a:ext cx="1170432" cy="969264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2834640"/>
            <a:ext cx="9326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/>
              </a:defRPr>
            </a:pPr>
            <a:r>
              <a:t>测试文件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5472" y="3081528"/>
            <a:ext cx="98755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80" b="1">
                <a:solidFill>
                  <a:srgbClr val="FFFFFF"/>
                </a:solidFill>
                <a:latin typeface="PingFang SC"/>
              </a:defRPr>
            </a:pPr>
            <a: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5472" y="3328416"/>
            <a:ext cx="987552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80" b="0">
                <a:solidFill>
                  <a:srgbClr val="FFFFFF"/>
                </a:solidFill>
                <a:latin typeface="PingFang SC"/>
              </a:defRPr>
            </a:pPr>
            <a:r>
              <a:t>要求 &gt;3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67344" y="2606040"/>
            <a:ext cx="1170432" cy="969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2834640"/>
            <a:ext cx="9326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173B2E"/>
                </a:solidFill>
                <a:latin typeface="PingFang SC"/>
              </a:defRPr>
            </a:pPr>
            <a:r>
              <a:t>核心源文件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3081528"/>
            <a:ext cx="98755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80" b="1">
                <a:solidFill>
                  <a:srgbClr val="173B2E"/>
                </a:solidFill>
                <a:latin typeface="PingFang SC"/>
              </a:defRPr>
            </a:pPr>
            <a:r>
              <a:t>98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58784" y="3328416"/>
            <a:ext cx="987552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80" b="0">
                <a:solidFill>
                  <a:srgbClr val="5C6B63"/>
                </a:solidFill>
                <a:latin typeface="PingFang SC"/>
              </a:defRPr>
            </a:pPr>
            <a:r>
              <a:t>要求 &gt;5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20656" y="2606040"/>
            <a:ext cx="1170432" cy="969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0384" y="2834640"/>
            <a:ext cx="9326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173B2E"/>
                </a:solidFill>
                <a:latin typeface="PingFang SC"/>
              </a:defRPr>
            </a:pPr>
            <a:r>
              <a:t>核心代码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12096" y="3081528"/>
            <a:ext cx="98755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1">
                <a:solidFill>
                  <a:srgbClr val="173B2E"/>
                </a:solidFill>
                <a:latin typeface="PingFang SC"/>
              </a:defRPr>
            </a:pPr>
            <a:r>
              <a:t>12,295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12096" y="3328416"/>
            <a:ext cx="987552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80" b="0">
                <a:solidFill>
                  <a:srgbClr val="5C6B63"/>
                </a:solidFill>
                <a:latin typeface="PingFang SC"/>
              </a:defRPr>
            </a:pPr>
            <a:r>
              <a:t>要求 &gt;500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14032" y="3913632"/>
            <a:ext cx="3877056" cy="6858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6912" y="4096512"/>
            <a:ext cx="35204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19" b="1">
                <a:solidFill>
                  <a:srgbClr val="173B2E"/>
                </a:solidFill>
                <a:latin typeface="PingFang SC"/>
              </a:defRPr>
            </a:pPr>
            <a:r>
              <a:t>分布：后端 3,636 行 / 前端 7,935 行 / 测试 724 行；菜谱数据 138,252 行。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4352544"/>
            <a:ext cx="340156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40" b="0">
                <a:solidFill>
                  <a:srgbClr val="5C6B63"/>
                </a:solidFill>
                <a:latin typeface="PingFang SC"/>
              </a:defRPr>
            </a:pPr>
            <a:r>
              <a:t>最新验证：15 个相关 pytest 通过；两个 H5 前端构建通过。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32688" y="5102352"/>
            <a:ext cx="10259568" cy="658368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25296" y="5312664"/>
            <a:ext cx="9692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70" b="1">
                <a:solidFill>
                  <a:srgbClr val="FFFFFF"/>
                </a:solidFill>
                <a:latin typeface="PingFang SC"/>
              </a:defRPr>
            </a:pPr>
            <a:r>
              <a:t>收束：ByteSavor 不是只接几个 AI 接口，而是把饮食任务做成“感知 -&gt; 决策 -&gt; 执行 -&gt; 反馈”的可验证闭环。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5989320"/>
            <a:ext cx="9601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80" b="0">
                <a:solidFill>
                  <a:srgbClr val="5C6B63"/>
                </a:solidFill>
                <a:latin typeface="PingFang SC"/>
              </a:defRPr>
            </a:pPr>
            <a:r>
              <a:t>兜底：若现场模型延迟，切换 demo_tests 图片、Swagger 接口或 pytest/build 验证结果。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