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40233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500" b="1">
                <a:solidFill>
                  <a:srgbClr val="173B2E"/>
                </a:solidFill>
                <a:latin typeface="PingFang SC"/>
              </a:defRPr>
            </a:pPr>
            <a:r>
              <a:t>从单点工具到全链路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0515600" cy="29260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350" b="0">
                <a:solidFill>
                  <a:srgbClr val="5C6B63"/>
                </a:solidFill>
                <a:latin typeface="PingFang SC"/>
              </a:defRPr>
            </a:pPr>
            <a:r>
              <a:t>ByteSavor 把识别、推荐、执行和反馈接成一条可验证流程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3840480" cy="320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700" b="1">
                <a:solidFill>
                  <a:srgbClr val="5C6B63"/>
                </a:solidFill>
                <a:latin typeface="PingFang SC"/>
              </a:defRPr>
            </a:pPr>
            <a:r>
              <a:t>传统饮食软件：能力割裂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2280" y="1417320"/>
            <a:ext cx="3840480" cy="320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700" b="1">
                <a:solidFill>
                  <a:srgbClr val="173B2E"/>
                </a:solidFill>
                <a:latin typeface="PingFang SC"/>
              </a:defRPr>
            </a:pPr>
            <a:r>
              <a:t>ByteSavor：场景闭环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965960" cy="950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176272"/>
            <a:ext cx="155448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500" b="1">
                <a:solidFill>
                  <a:srgbClr val="173B2E"/>
                </a:solidFill>
                <a:latin typeface="PingFang SC"/>
              </a:defRPr>
            </a:pPr>
            <a:r>
              <a:t>热量记录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496312"/>
            <a:ext cx="1554480" cy="21945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100" b="0">
                <a:solidFill>
                  <a:srgbClr val="5C6B63"/>
                </a:solidFill>
                <a:latin typeface="PingFang SC"/>
              </a:defRPr>
            </a:pPr>
            <a:r>
              <a:t>只能手动估算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993392"/>
            <a:ext cx="1965960" cy="950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2176272"/>
            <a:ext cx="155448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500" b="1">
                <a:solidFill>
                  <a:srgbClr val="173B2E"/>
                </a:solidFill>
                <a:latin typeface="PingFang SC"/>
              </a:defRPr>
            </a:pPr>
            <a:r>
              <a:t>菜谱搜索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2496312"/>
            <a:ext cx="1554480" cy="21945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100" b="0">
                <a:solidFill>
                  <a:srgbClr val="5C6B63"/>
                </a:solidFill>
                <a:latin typeface="PingFang SC"/>
              </a:defRPr>
            </a:pPr>
            <a:r>
              <a:t>不知道家里有什么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29000"/>
            <a:ext cx="1965960" cy="950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11880"/>
            <a:ext cx="155448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500" b="1">
                <a:solidFill>
                  <a:srgbClr val="173B2E"/>
                </a:solidFill>
                <a:latin typeface="PingFang SC"/>
              </a:defRPr>
            </a:pPr>
            <a:r>
              <a:t>购物清单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931920"/>
            <a:ext cx="1554480" cy="21945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100" b="0">
                <a:solidFill>
                  <a:srgbClr val="5C6B63"/>
                </a:solidFill>
                <a:latin typeface="PingFang SC"/>
              </a:defRPr>
            </a:pPr>
            <a:r>
              <a:t>和推荐断开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3429000"/>
            <a:ext cx="1965960" cy="950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3611880"/>
            <a:ext cx="155448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500" b="1">
                <a:solidFill>
                  <a:srgbClr val="173B2E"/>
                </a:solidFill>
                <a:latin typeface="PingFang SC"/>
              </a:defRPr>
            </a:pPr>
            <a:r>
              <a:t>图片识别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931920"/>
            <a:ext cx="1554480" cy="21945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100" b="0">
                <a:solidFill>
                  <a:srgbClr val="5C6B63"/>
                </a:solidFill>
                <a:latin typeface="PingFang SC"/>
              </a:defRPr>
            </a:pPr>
            <a:r>
              <a:t>识别后没有执行链路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52928" y="2468880"/>
            <a:ext cx="256032" cy="0"/>
          </a:xfrm>
          <a:prstGeom prst="line">
            <a:avLst/>
          </a:prstGeom>
          <a:ln w="19050">
            <a:solidFill>
              <a:srgbClr val="5C6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47088" y="2962656"/>
            <a:ext cx="0" cy="438912"/>
          </a:xfrm>
          <a:prstGeom prst="line">
            <a:avLst/>
          </a:prstGeom>
          <a:ln w="19050">
            <a:solidFill>
              <a:srgbClr val="5C6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33087" y="2962656"/>
            <a:ext cx="0" cy="438912"/>
          </a:xfrm>
          <a:prstGeom prst="line">
            <a:avLst/>
          </a:prstGeom>
          <a:ln w="19050">
            <a:solidFill>
              <a:srgbClr val="5C6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852928" y="3904487"/>
            <a:ext cx="256032" cy="0"/>
          </a:xfrm>
          <a:prstGeom prst="line">
            <a:avLst/>
          </a:prstGeom>
          <a:ln w="19050">
            <a:solidFill>
              <a:srgbClr val="5C6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37960" y="1874519"/>
            <a:ext cx="48006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74736" y="2816352"/>
            <a:ext cx="1536192" cy="1536192"/>
          </a:xfrm>
          <a:prstGeom prst="ellipse">
            <a:avLst/>
          </a:prstGeom>
          <a:solidFill>
            <a:srgbClr val="1B7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1" y="3419856"/>
            <a:ext cx="118872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B-Y-T-E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3730752"/>
            <a:ext cx="11887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饮食闭环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67344" y="2121408"/>
            <a:ext cx="1051560" cy="347472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3064" y="2185415"/>
            <a:ext cx="9601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150" b="1">
                <a:solidFill>
                  <a:srgbClr val="1B7F5F"/>
                </a:solidFill>
                <a:latin typeface="PingFang SC"/>
              </a:defRPr>
            </a:pPr>
            <a:r>
              <a:t>B 感知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51592" y="3538728"/>
            <a:ext cx="1051560" cy="347472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97312" y="3602736"/>
            <a:ext cx="9601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150" b="1">
                <a:solidFill>
                  <a:srgbClr val="F4B957"/>
                </a:solidFill>
                <a:latin typeface="PingFang SC"/>
              </a:defRPr>
            </a:pPr>
            <a:r>
              <a:t>Y 决策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67344" y="4974336"/>
            <a:ext cx="1051560" cy="347472"/>
          </a:xfrm>
          <a:prstGeom prst="roundRect">
            <a:avLst/>
          </a:prstGeom>
          <a:solidFill>
            <a:srgbClr val="F4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13064" y="5038344"/>
            <a:ext cx="9601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150" b="1">
                <a:solidFill>
                  <a:srgbClr val="5C56B1"/>
                </a:solidFill>
                <a:latin typeface="PingFang SC"/>
              </a:defRPr>
            </a:pPr>
            <a:r>
              <a:t>T 执行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04303" y="3538728"/>
            <a:ext cx="1051560" cy="347472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0023" y="3602736"/>
            <a:ext cx="96012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150" b="1">
                <a:solidFill>
                  <a:srgbClr val="1B7F5F"/>
                </a:solidFill>
                <a:latin typeface="PingFang SC"/>
              </a:defRPr>
            </a:pPr>
            <a:r>
              <a:t>E 反馈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42832" y="2560320"/>
            <a:ext cx="1389887" cy="859536"/>
          </a:xfrm>
          <a:prstGeom prst="line">
            <a:avLst/>
          </a:prstGeom>
          <a:ln w="2540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942832" y="3749039"/>
            <a:ext cx="1389887" cy="932689"/>
          </a:xfrm>
          <a:prstGeom prst="line">
            <a:avLst/>
          </a:prstGeom>
          <a:ln w="25400">
            <a:solidFill>
              <a:srgbClr val="F4B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7525511" y="3749039"/>
            <a:ext cx="1188721" cy="932689"/>
          </a:xfrm>
          <a:prstGeom prst="line">
            <a:avLst/>
          </a:prstGeom>
          <a:ln w="25400">
            <a:solidFill>
              <a:srgbClr val="5C56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25511" y="2560320"/>
            <a:ext cx="1188721" cy="859536"/>
          </a:xfrm>
          <a:prstGeom prst="line">
            <a:avLst/>
          </a:prstGeom>
          <a:ln w="25400">
            <a:solidFill>
              <a:srgbClr val="1B7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78040" y="5504688"/>
            <a:ext cx="3749039" cy="320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200" b="0">
                <a:solidFill>
                  <a:srgbClr val="5C6B63"/>
                </a:solidFill>
                <a:latin typeface="PingFang SC"/>
              </a:defRPr>
            </a:pPr>
            <a:r>
              <a:t>确认摄入、评分原因、偏好记忆会回到下一轮推荐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40233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500" b="1">
                <a:solidFill>
                  <a:srgbClr val="FFFFFF"/>
                </a:solidFill>
                <a:latin typeface="PingFang SC"/>
              </a:defRPr>
            </a:pPr>
            <a:r>
              <a:t>B-Y-T-E Agent 技术闭环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0515600" cy="29260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350" b="0">
                <a:solidFill>
                  <a:srgbClr val="C9E1D5"/>
                </a:solidFill>
                <a:latin typeface="PingFang SC"/>
              </a:defRPr>
            </a:pPr>
            <a:r>
              <a:t>每个工具独立可测，由 Agent 统一编排，并把反馈写回长期记忆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325880"/>
            <a:ext cx="3977639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536192"/>
            <a:ext cx="3429000" cy="228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600" b="1">
                <a:solidFill>
                  <a:srgbClr val="173B2E"/>
                </a:solidFill>
                <a:latin typeface="PingFang SC"/>
              </a:defRPr>
            </a:pPr>
            <a:r>
              <a:t>uni-app / Vue3 前端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9048" y="1920240"/>
            <a:ext cx="0" cy="594360"/>
          </a:xfrm>
          <a:prstGeom prst="line">
            <a:avLst/>
          </a:prstGeom>
          <a:ln w="3175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2651760"/>
            <a:ext cx="2148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889504"/>
            <a:ext cx="1645920" cy="2743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800" b="1">
                <a:solidFill>
                  <a:srgbClr val="1B7F5F"/>
                </a:solidFill>
                <a:latin typeface="PingFang SC"/>
              </a:defRPr>
            </a:pPr>
            <a:r>
              <a:t>B 感知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273552"/>
            <a:ext cx="1737360" cy="7772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80" b="0">
                <a:solidFill>
                  <a:srgbClr val="5C6B63"/>
                </a:solidFill>
                <a:latin typeface="PingFang SC"/>
              </a:defRPr>
            </a:pPr>
            <a:r>
              <a:t>图片/文本输入</a:t>
            </a:r>
            <a:br/>
            <a:r>
              <a:t>食材、分量、品质、菜品</a:t>
            </a:r>
            <a:br/>
            <a:r>
              <a:t>VLM: Qwen-VL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651760"/>
            <a:ext cx="2148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2889504"/>
            <a:ext cx="1645920" cy="2743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800" b="1">
                <a:solidFill>
                  <a:srgbClr val="F4B957"/>
                </a:solidFill>
                <a:latin typeface="PingFang SC"/>
              </a:defRPr>
            </a:pPr>
            <a:r>
              <a:t>Y 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273552"/>
            <a:ext cx="1737360" cy="7772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80" b="0">
                <a:solidFill>
                  <a:srgbClr val="5C6B63"/>
                </a:solidFill>
                <a:latin typeface="PingFang SC"/>
              </a:defRPr>
            </a:pPr>
            <a:r>
              <a:t>推荐引擎</a:t>
            </a:r>
            <a:br/>
            <a:r>
              <a:t>目标、偏好、营养缺口</a:t>
            </a:r>
            <a:br/>
            <a:r>
              <a:t>食材50% + 标签30% + 偏好20%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651760"/>
            <a:ext cx="2148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2889504"/>
            <a:ext cx="1645920" cy="2743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800" b="1">
                <a:solidFill>
                  <a:srgbClr val="5C56B1"/>
                </a:solidFill>
                <a:latin typeface="PingFang SC"/>
              </a:defRPr>
            </a:pPr>
            <a:r>
              <a:t>T 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3273552"/>
            <a:ext cx="1737360" cy="7772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80" b="0">
                <a:solidFill>
                  <a:srgbClr val="5C6B63"/>
                </a:solidFill>
                <a:latin typeface="PingFang SC"/>
              </a:defRPr>
            </a:pPr>
            <a:r>
              <a:t>三餐计划 / 清单</a:t>
            </a:r>
            <a:br/>
            <a:r>
              <a:t>库存扣减、完成记录</a:t>
            </a:r>
            <a:br/>
            <a:r>
              <a:t>识别不等于摄入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651760"/>
            <a:ext cx="2148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889504"/>
            <a:ext cx="1645920" cy="2743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800" b="1">
                <a:solidFill>
                  <a:srgbClr val="1B7F5F"/>
                </a:solidFill>
                <a:latin typeface="PingFang SC"/>
              </a:defRPr>
            </a:pPr>
            <a:r>
              <a:t>E 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273552"/>
            <a:ext cx="1737360" cy="7772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80" b="0">
                <a:solidFill>
                  <a:srgbClr val="5C6B63"/>
                </a:solidFill>
                <a:latin typeface="PingFang SC"/>
              </a:defRPr>
            </a:pPr>
            <a:r>
              <a:t>评分 + 文字原因</a:t>
            </a:r>
            <a:br/>
            <a:r>
              <a:t>LLM 解析偏好记忆</a:t>
            </a:r>
            <a:br/>
            <a:r>
              <a:t>liked / avoid signals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1800" y="3520440"/>
            <a:ext cx="246888" cy="0"/>
          </a:xfrm>
          <a:prstGeom prst="line">
            <a:avLst/>
          </a:prstGeom>
          <a:ln w="2540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94960" y="3520440"/>
            <a:ext cx="246888" cy="0"/>
          </a:xfrm>
          <a:prstGeom prst="line">
            <a:avLst/>
          </a:prstGeom>
          <a:ln w="2540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18120" y="3520440"/>
            <a:ext cx="246888" cy="0"/>
          </a:xfrm>
          <a:prstGeom prst="line">
            <a:avLst/>
          </a:prstGeom>
          <a:ln w="2540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874519" y="4407408"/>
            <a:ext cx="7287769" cy="987552"/>
          </a:xfrm>
          <a:prstGeom prst="line">
            <a:avLst/>
          </a:prstGeom>
          <a:ln w="25400">
            <a:solidFill>
              <a:srgbClr val="EAF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920240" y="5449824"/>
            <a:ext cx="8412480" cy="2743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200" b="0">
                <a:solidFill>
                  <a:srgbClr val="D9EFE5"/>
                </a:solidFill>
                <a:latin typeface="PingFang SC"/>
              </a:defRPr>
            </a:pPr>
            <a:r>
              <a:t>反馈回路：确认摄入 -&gt; 营养长期记录；评分原因 -&gt; 偏好数据库 -&gt; 下一轮推荐加权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989320"/>
            <a:ext cx="14173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6108192"/>
            <a:ext cx="1325880" cy="16459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150" b="1">
                <a:solidFill>
                  <a:srgbClr val="173B2E"/>
                </a:solidFill>
                <a:latin typeface="PingFang SC"/>
              </a:defRPr>
            </a:pPr>
            <a:r>
              <a:t>FastAPI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5989320"/>
            <a:ext cx="14173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79" y="6108192"/>
            <a:ext cx="1325880" cy="16459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150" b="1">
                <a:solidFill>
                  <a:srgbClr val="173B2E"/>
                </a:solidFill>
                <a:latin typeface="PingFang SC"/>
              </a:defRPr>
            </a:pPr>
            <a:r>
              <a:t>MySQL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74920" y="5989320"/>
            <a:ext cx="14173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6108192"/>
            <a:ext cx="1325880" cy="16459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150" b="1">
                <a:solidFill>
                  <a:srgbClr val="173B2E"/>
                </a:solidFill>
                <a:latin typeface="PingFang SC"/>
              </a:defRPr>
            </a:pPr>
            <a:r>
              <a:t>Redis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79" y="5989320"/>
            <a:ext cx="14173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599" y="6108192"/>
            <a:ext cx="1325880" cy="16459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150" b="1">
                <a:solidFill>
                  <a:srgbClr val="173B2E"/>
                </a:solidFill>
                <a:latin typeface="PingFang SC"/>
              </a:defRPr>
            </a:pPr>
            <a:r>
              <a:t>VLM / LLM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5989320"/>
            <a:ext cx="14173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6108192"/>
            <a:ext cx="1325880" cy="16459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1150" b="1">
                <a:solidFill>
                  <a:srgbClr val="173B2E"/>
                </a:solidFill>
                <a:latin typeface="PingFang SC"/>
              </a:defRPr>
            </a:pPr>
            <a:r>
              <a:t>2576+ 菜谱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40233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500" b="1">
                <a:solidFill>
                  <a:srgbClr val="173B2E"/>
                </a:solidFill>
                <a:latin typeface="PingFang SC"/>
              </a:defRPr>
            </a:pPr>
            <a:r>
              <a:t>角色化功能测试矩阵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0515600" cy="29260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350" b="0">
                <a:solidFill>
                  <a:srgbClr val="5C6B63"/>
                </a:solidFill>
                <a:latin typeface="PingFang SC"/>
              </a:defRPr>
            </a:pPr>
            <a:r>
              <a:t>功能展示和测试场景一一对应，现场演示可以按角色切换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10652760" cy="438912"/>
          </a:xfrm>
          <a:prstGeom prst="roundRect">
            <a:avLst/>
          </a:prstGeom>
          <a:solidFill>
            <a:srgbClr val="17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508760" cy="16459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645920"/>
            <a:ext cx="3337560" cy="16459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功能路径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645920"/>
            <a:ext cx="2423160" cy="16459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测试材料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3291840" cy="16459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验证点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03120"/>
            <a:ext cx="10652760" cy="512064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15087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/>
              </a:defRPr>
            </a:pPr>
            <a:r>
              <a:t>家庭做饭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267712"/>
            <a:ext cx="33375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0">
                <a:solidFill>
                  <a:srgbClr val="173B2E"/>
                </a:solidFill>
                <a:latin typeface="PingFang SC"/>
              </a:defRPr>
            </a:pPr>
            <a:r>
              <a:t>拍照识别 -&gt; 校正 -&gt; 推荐 -&gt; 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267712"/>
            <a:ext cx="24231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1">
                <a:solidFill>
                  <a:srgbClr val="1B7F5F"/>
                </a:solidFill>
                <a:latin typeface="PingFang SC"/>
              </a:defRPr>
            </a:pPr>
            <a:r>
              <a:t>场景一_拍照推荐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67712"/>
            <a:ext cx="329184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0">
                <a:solidFill>
                  <a:srgbClr val="173B2E"/>
                </a:solidFill>
                <a:latin typeface="PingFang SC"/>
              </a:defRPr>
            </a:pPr>
            <a:r>
              <a:t>可删改、推荐多道菜、不误计入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79776"/>
            <a:ext cx="10652760" cy="512064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44368"/>
            <a:ext cx="15087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/>
              </a:defRPr>
            </a:pPr>
            <a:r>
              <a:t>健康管理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944368"/>
            <a:ext cx="33375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0">
                <a:solidFill>
                  <a:srgbClr val="173B2E"/>
                </a:solidFill>
                <a:latin typeface="PingFang SC"/>
              </a:defRPr>
            </a:pPr>
            <a:r>
              <a:t>餐盘识别 -&gt; 确认摄入 -&gt; 看板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944368"/>
            <a:ext cx="24231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1">
                <a:solidFill>
                  <a:srgbClr val="F4B957"/>
                </a:solidFill>
                <a:latin typeface="PingFang SC"/>
              </a:defRPr>
            </a:pPr>
            <a:r>
              <a:t>场景四_营养分析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944368"/>
            <a:ext cx="329184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0">
                <a:solidFill>
                  <a:srgbClr val="173B2E"/>
                </a:solidFill>
                <a:latin typeface="PingFang SC"/>
              </a:defRPr>
            </a:pPr>
            <a:r>
              <a:t>确认才写入；错误可删除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56432"/>
            <a:ext cx="10652760" cy="512064"/>
          </a:xfrm>
          <a:prstGeom prst="roundRect">
            <a:avLst/>
          </a:prstGeom>
          <a:solidFill>
            <a:srgbClr val="F4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21024"/>
            <a:ext cx="15087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/>
              </a:defRPr>
            </a:pPr>
            <a:r>
              <a:t>买菜用户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621024"/>
            <a:ext cx="33375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0">
                <a:solidFill>
                  <a:srgbClr val="173B2E"/>
                </a:solidFill>
                <a:latin typeface="PingFang SC"/>
              </a:defRPr>
            </a:pPr>
            <a:r>
              <a:t>拍水果/食材 -&gt; 品质鉴定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621024"/>
            <a:ext cx="24231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1">
                <a:solidFill>
                  <a:srgbClr val="5C56B1"/>
                </a:solidFill>
                <a:latin typeface="PingFang SC"/>
              </a:defRPr>
            </a:pPr>
            <a:r>
              <a:t>场景三_品质鉴定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621024"/>
            <a:ext cx="329184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0">
                <a:solidFill>
                  <a:srgbClr val="173B2E"/>
                </a:solidFill>
                <a:latin typeface="PingFang SC"/>
              </a:defRPr>
            </a:pPr>
            <a:r>
              <a:t>等级、依据、购买建议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133087"/>
            <a:ext cx="10652760" cy="512064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297679"/>
            <a:ext cx="15087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/>
              </a:defRPr>
            </a:pPr>
            <a:r>
              <a:t>探店用户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297679"/>
            <a:ext cx="33375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0">
                <a:solidFill>
                  <a:srgbClr val="173B2E"/>
                </a:solidFill>
                <a:latin typeface="PingFang SC"/>
              </a:defRPr>
            </a:pPr>
            <a:r>
              <a:t>拍菜品 -&gt; 故事/口味/吃法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297679"/>
            <a:ext cx="24231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1">
                <a:solidFill>
                  <a:srgbClr val="1B7F5F"/>
                </a:solidFill>
                <a:latin typeface="PingFang SC"/>
              </a:defRPr>
            </a:pPr>
            <a:r>
              <a:t>场景五_探店向导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297679"/>
            <a:ext cx="329184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0">
                <a:solidFill>
                  <a:srgbClr val="173B2E"/>
                </a:solidFill>
                <a:latin typeface="PingFang SC"/>
              </a:defRPr>
            </a:pPr>
            <a:r>
              <a:t>VLM 识别 + LLM 补全讲解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809744"/>
            <a:ext cx="10652760" cy="512064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974336"/>
            <a:ext cx="15087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/>
              </a:defRPr>
            </a:pPr>
            <a:r>
              <a:t>备餐采购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974336"/>
            <a:ext cx="33375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0">
                <a:solidFill>
                  <a:srgbClr val="173B2E"/>
                </a:solidFill>
                <a:latin typeface="PingFang SC"/>
              </a:defRPr>
            </a:pPr>
            <a:r>
              <a:t>多菜谱/文本 -&gt; 合并购物清单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4974336"/>
            <a:ext cx="24231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1">
                <a:solidFill>
                  <a:srgbClr val="F4B957"/>
                </a:solidFill>
                <a:latin typeface="PingFang SC"/>
              </a:defRPr>
            </a:pPr>
            <a:r>
              <a:t>场景二_清单导出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974336"/>
            <a:ext cx="329184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0">
                <a:solidFill>
                  <a:srgbClr val="173B2E"/>
                </a:solidFill>
                <a:latin typeface="PingFang SC"/>
              </a:defRPr>
            </a:pPr>
            <a:r>
              <a:t>同名合并、数量保留、可复制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486400"/>
            <a:ext cx="10652760" cy="512064"/>
          </a:xfrm>
          <a:prstGeom prst="roundRect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650992"/>
            <a:ext cx="15087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80" b="1">
                <a:solidFill>
                  <a:srgbClr val="173B2E"/>
                </a:solidFill>
                <a:latin typeface="PingFang SC"/>
              </a:defRPr>
            </a:pPr>
            <a:r>
              <a:t>长期个性化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650992"/>
            <a:ext cx="33375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0">
                <a:solidFill>
                  <a:srgbClr val="173B2E"/>
                </a:solidFill>
                <a:latin typeface="PingFang SC"/>
              </a:defRPr>
            </a:pPr>
            <a:r>
              <a:t>确认摄入 -&gt; 评分原因 -&gt; 偏好记忆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5650992"/>
            <a:ext cx="242316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1">
                <a:solidFill>
                  <a:srgbClr val="1B7F5F"/>
                </a:solidFill>
                <a:latin typeface="PingFang SC"/>
              </a:defRPr>
            </a:pPr>
            <a:r>
              <a:t>test_feedback_memory.py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650992"/>
            <a:ext cx="3291840" cy="146304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30" b="0">
                <a:solidFill>
                  <a:srgbClr val="173B2E"/>
                </a:solidFill>
                <a:latin typeface="PingFang SC"/>
              </a:defRPr>
            </a:pPr>
            <a:r>
              <a:t>liked/avoid 写库并影响推荐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40233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500" b="1">
                <a:solidFill>
                  <a:srgbClr val="173B2E"/>
                </a:solidFill>
                <a:latin typeface="PingFang SC"/>
              </a:defRPr>
            </a:pPr>
            <a:r>
              <a:t>软件规模与验证结果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0515600" cy="29260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350" b="0">
                <a:solidFill>
                  <a:srgbClr val="5C6B63"/>
                </a:solidFill>
                <a:latin typeface="PingFang SC"/>
              </a:defRPr>
            </a:pPr>
            <a:r>
              <a:t>规模满足课程要求，关键流程有自动化测试和构建验证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017520" cy="1417320"/>
          </a:xfrm>
          <a:prstGeom prst="roundRect">
            <a:avLst/>
          </a:prstGeom>
          <a:solidFill>
            <a:srgbClr val="17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228600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250" b="0">
                <a:solidFill>
                  <a:srgbClr val="FFFFFF"/>
                </a:solidFill>
                <a:latin typeface="PingFang SC"/>
              </a:defRPr>
            </a:pPr>
            <a:r>
              <a:t>自动化测试文件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267712"/>
            <a:ext cx="2148840" cy="4114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3300" b="1">
                <a:solidFill>
                  <a:srgbClr val="FFFFFF"/>
                </a:solidFill>
                <a:latin typeface="PingFang SC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496312"/>
            <a:ext cx="411480" cy="1828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237744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50" b="0">
                <a:solidFill>
                  <a:srgbClr val="FFFFFF"/>
                </a:solidFill>
                <a:latin typeface="PingFang SC"/>
              </a:defRPr>
            </a:pPr>
            <a:r>
              <a:t>覆盖 auth / decision / meals /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45920"/>
            <a:ext cx="30175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965960"/>
            <a:ext cx="228600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250" b="0">
                <a:solidFill>
                  <a:srgbClr val="173B2E"/>
                </a:solidFill>
                <a:latin typeface="PingFang SC"/>
              </a:defRPr>
            </a:pPr>
            <a:r>
              <a:t>主要源文件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67712"/>
            <a:ext cx="2148840" cy="4114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3300" b="1">
                <a:solidFill>
                  <a:srgbClr val="173B2E"/>
                </a:solidFill>
                <a:latin typeface="PingFang SC"/>
              </a:defRPr>
            </a:pPr>
            <a:r>
              <a:t>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96312"/>
            <a:ext cx="411480" cy="1828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300" b="0">
                <a:solidFill>
                  <a:srgbClr val="173B2E"/>
                </a:solidFill>
                <a:latin typeface="PingFang SC"/>
              </a:defRPr>
            </a:pPr>
            <a:r>
              <a:t>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788920"/>
            <a:ext cx="237744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50" b="0">
                <a:solidFill>
                  <a:srgbClr val="5C6B63"/>
                </a:solidFill>
                <a:latin typeface="PingFang SC"/>
              </a:defRPr>
            </a:pPr>
            <a:r>
              <a:t>后端 app + 前端 bsapp/src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0175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965960"/>
            <a:ext cx="228600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250" b="0">
                <a:solidFill>
                  <a:srgbClr val="173B2E"/>
                </a:solidFill>
                <a:latin typeface="PingFang SC"/>
              </a:defRPr>
            </a:pPr>
            <a:r>
              <a:t>代码总行数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67712"/>
            <a:ext cx="2148840" cy="4114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3300" b="1">
                <a:solidFill>
                  <a:srgbClr val="173B2E"/>
                </a:solidFill>
                <a:latin typeface="PingFang SC"/>
              </a:defRPr>
            </a:pPr>
            <a:r>
              <a:t>149,823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788920"/>
            <a:ext cx="237744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050" b="0">
                <a:solidFill>
                  <a:srgbClr val="5C6B63"/>
                </a:solidFill>
                <a:latin typeface="PingFang SC"/>
              </a:defRPr>
            </a:pPr>
            <a:r>
              <a:t>远超 500 行要求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03320"/>
            <a:ext cx="105613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041648"/>
            <a:ext cx="292608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600" b="1">
                <a:solidFill>
                  <a:srgbClr val="173B2E"/>
                </a:solidFill>
                <a:latin typeface="PingFang SC"/>
              </a:defRPr>
            </a:pPr>
            <a:r>
              <a:t>关键验证链路</a:t>
            </a:r>
          </a:p>
        </p:txBody>
      </p:sp>
      <p:sp>
        <p:nvSpPr>
          <p:cNvPr id="20" name="Oval 19"/>
          <p:cNvSpPr/>
          <p:nvPr/>
        </p:nvSpPr>
        <p:spPr>
          <a:xfrm>
            <a:off x="1143000" y="4498848"/>
            <a:ext cx="347472" cy="347472"/>
          </a:xfrm>
          <a:prstGeom prst="ellipse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" y="4590288"/>
            <a:ext cx="310896" cy="1097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950" b="1">
                <a:solidFill>
                  <a:srgbClr val="1B7F5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80560"/>
            <a:ext cx="1554480" cy="2103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200" b="1">
                <a:solidFill>
                  <a:srgbClr val="173B2E"/>
                </a:solidFill>
                <a:latin typeface="PingFang SC"/>
              </a:defRPr>
            </a:pPr>
            <a:r>
              <a:t>个性化目标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773168"/>
            <a:ext cx="1874519" cy="320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50" b="0">
                <a:solidFill>
                  <a:srgbClr val="5C6B63"/>
                </a:solidFill>
                <a:latin typeface="PingFang SC"/>
              </a:defRPr>
            </a:pPr>
            <a:r>
              <a:t>身高体重、运动频次、自定义目标</a:t>
            </a:r>
          </a:p>
        </p:txBody>
      </p:sp>
      <p:sp>
        <p:nvSpPr>
          <p:cNvPr id="24" name="Oval 23"/>
          <p:cNvSpPr/>
          <p:nvPr/>
        </p:nvSpPr>
        <p:spPr>
          <a:xfrm>
            <a:off x="3749039" y="4498848"/>
            <a:ext cx="347472" cy="347472"/>
          </a:xfrm>
          <a:prstGeom prst="ellipse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7327" y="4590288"/>
            <a:ext cx="310896" cy="1097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950" b="1">
                <a:solidFill>
                  <a:srgbClr val="F4B957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480560"/>
            <a:ext cx="1554480" cy="2103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200" b="1">
                <a:solidFill>
                  <a:srgbClr val="173B2E"/>
                </a:solidFill>
                <a:latin typeface="PingFang SC"/>
              </a:defRPr>
            </a:pPr>
            <a:r>
              <a:t>确认摄入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773168"/>
            <a:ext cx="1874519" cy="320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50" b="0">
                <a:solidFill>
                  <a:srgbClr val="5C6B63"/>
                </a:solidFill>
                <a:latin typeface="PingFang SC"/>
              </a:defRPr>
            </a:pPr>
            <a:r>
              <a:t>只有确认后才写入长期营养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4498848"/>
            <a:ext cx="347472" cy="347472"/>
          </a:xfrm>
          <a:prstGeom prst="ellipse">
            <a:avLst/>
          </a:prstGeom>
          <a:solidFill>
            <a:srgbClr val="F4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4590288"/>
            <a:ext cx="310896" cy="1097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950" b="1">
                <a:solidFill>
                  <a:srgbClr val="5C56B1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480560"/>
            <a:ext cx="1554480" cy="2103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200" b="1">
                <a:solidFill>
                  <a:srgbClr val="173B2E"/>
                </a:solidFill>
                <a:latin typeface="PingFang SC"/>
              </a:defRPr>
            </a:pPr>
            <a:r>
              <a:t>偏好记忆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773168"/>
            <a:ext cx="1874519" cy="320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50" b="0">
                <a:solidFill>
                  <a:srgbClr val="5C6B63"/>
                </a:solidFill>
                <a:latin typeface="PingFang SC"/>
              </a:defRPr>
            </a:pPr>
            <a:r>
              <a:t>评分文字解析为 liked / avoid</a:t>
            </a:r>
          </a:p>
        </p:txBody>
      </p:sp>
      <p:sp>
        <p:nvSpPr>
          <p:cNvPr id="32" name="Oval 31"/>
          <p:cNvSpPr/>
          <p:nvPr/>
        </p:nvSpPr>
        <p:spPr>
          <a:xfrm>
            <a:off x="8961120" y="4498848"/>
            <a:ext cx="347472" cy="347472"/>
          </a:xfrm>
          <a:prstGeom prst="ellipse">
            <a:avLst/>
          </a:prstGeom>
          <a:solidFill>
            <a:srgbClr val="EA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9408" y="4590288"/>
            <a:ext cx="310896" cy="10972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>
              <a:defRPr sz="950" b="1">
                <a:solidFill>
                  <a:srgbClr val="1B7F5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480560"/>
            <a:ext cx="1554480" cy="2103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200" b="1">
                <a:solidFill>
                  <a:srgbClr val="173B2E"/>
                </a:solidFill>
                <a:latin typeface="PingFang SC"/>
              </a:defRPr>
            </a:pPr>
            <a:r>
              <a:t>前端构建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773168"/>
            <a:ext cx="1874519" cy="320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950" b="0">
                <a:solidFill>
                  <a:srgbClr val="5C6B63"/>
                </a:solidFill>
                <a:latin typeface="PingFang SC"/>
              </a:defRPr>
            </a:pPr>
            <a:r>
              <a:t>两个 uni-app 目录均 build 通过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321808"/>
            <a:ext cx="8778240" cy="20116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1100" b="0">
                <a:solidFill>
                  <a:srgbClr val="5C6B63"/>
                </a:solidFill>
                <a:latin typeface="PingFang SC"/>
              </a:defRPr>
            </a:pPr>
            <a:r>
              <a:t>最新验证：15 个相关 pytest 通过；H5 主前端和嵌套前端均 DONE Build complete。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