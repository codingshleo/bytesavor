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Rounded Rectangle 34"/>
          <p:cNvSpPr/>
          <p:nvPr/>
        </p:nvSpPr>
        <p:spPr>
          <a:xfrm>
            <a:off x="8796528" y="941832"/>
            <a:ext cx="2267712" cy="5120640"/>
          </a:xfrm>
          <a:prstGeom prst="roundRect">
            <a:avLst/>
          </a:prstGeom>
          <a:solidFill>
            <a:srgbClr val="173B2E"/>
          </a:solidFill>
          <a:ln w="11430">
            <a:solidFill>
              <a:srgbClr val="17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9173845" y="-658368"/>
            <a:ext cx="3017520" cy="16002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7228" y="5897753"/>
            <a:ext cx="2057400" cy="117043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438912" y="5102352"/>
            <a:ext cx="2651760" cy="1554480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3474720" cy="45720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>
              <a:defRPr sz="30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ByteSavor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629400" cy="1143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4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基于多模态 Agent 的</a:t>
            </a:r>
            <a:br/>
            <a:r>
              <a:t>全场景饮食全链路解析系统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5943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rPr sz="1400"/>
              <a:t>从看见食物，到推荐、执行、记录和长期偏好学习</a:t>
            </a:r>
            <a:endParaRPr sz="1400"/>
          </a:p>
        </p:txBody>
      </p:sp>
      <p:sp>
        <p:nvSpPr>
          <p:cNvPr id="24" name="Rounded Rectangle 23"/>
          <p:cNvSpPr/>
          <p:nvPr/>
        </p:nvSpPr>
        <p:spPr>
          <a:xfrm>
            <a:off x="77724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705" y="5201285"/>
            <a:ext cx="255905" cy="25781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rPr sz="800"/>
              <a:t>B</a:t>
            </a:r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1196975" y="5205095"/>
            <a:ext cx="421640" cy="26289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感知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6479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0312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5230368"/>
            <a:ext cx="256032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  <a:defRPr sz="18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rPr sz="800">
                <a:sym typeface="+mn-ea"/>
              </a:rPr>
              <a:t>Y</a:t>
            </a:r>
            <a:endParaRPr sz="800">
              <a:sym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04440" y="5207635"/>
            <a:ext cx="421640" cy="24193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lvl="0" algn="l">
              <a:buClrTx/>
              <a:buSzTx/>
              <a:buFontTx/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决</a:t>
            </a:r>
            <a:r>
              <a:rPr>
                <a:sym typeface="+mn-ea"/>
              </a:rPr>
              <a:t>策</a:t>
            </a:r>
            <a:endParaRPr>
              <a:sym typeface="+mn-ea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29000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3625" y="5229860"/>
            <a:ext cx="255905" cy="187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rPr sz="800"/>
              <a:t>T</a:t>
            </a:r>
            <a:endParaRPr sz="800"/>
          </a:p>
        </p:txBody>
      </p:sp>
      <p:sp>
        <p:nvSpPr>
          <p:cNvPr id="34" name="TextBox 33"/>
          <p:cNvSpPr txBox="1"/>
          <p:nvPr/>
        </p:nvSpPr>
        <p:spPr>
          <a:xfrm>
            <a:off x="3857625" y="5193665"/>
            <a:ext cx="394335" cy="2152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执行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5449824"/>
            <a:ext cx="246888" cy="0"/>
          </a:xfrm>
          <a:prstGeom prst="line">
            <a:avLst/>
          </a:prstGeom>
          <a:ln w="2032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754879" y="512064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1" y="5230368"/>
            <a:ext cx="2560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rPr sz="800"/>
              <a:t>E</a:t>
            </a:r>
            <a:endParaRPr sz="800"/>
          </a:p>
        </p:txBody>
      </p:sp>
      <p:sp>
        <p:nvSpPr>
          <p:cNvPr id="38" name="TextBox 37"/>
          <p:cNvSpPr txBox="1"/>
          <p:nvPr/>
        </p:nvSpPr>
        <p:spPr>
          <a:xfrm>
            <a:off x="5140325" y="5234305"/>
            <a:ext cx="437515" cy="21526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反馈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3767328"/>
            <a:ext cx="5943600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968750"/>
            <a:ext cx="868680" cy="22796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5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rPr sz="1000"/>
              <a:t>完整闭环</a:t>
            </a:r>
            <a:endParaRPr sz="1000"/>
          </a:p>
        </p:txBody>
      </p:sp>
      <p:sp>
        <p:nvSpPr>
          <p:cNvPr id="41" name="TextBox 40"/>
          <p:cNvSpPr txBox="1"/>
          <p:nvPr/>
        </p:nvSpPr>
        <p:spPr>
          <a:xfrm>
            <a:off x="1783080" y="3963035"/>
            <a:ext cx="4843145" cy="26479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rPr sz="900"/>
              <a:t>拍照识别 -&gt; 智能决策 -&gt; 菜谱推荐 -&gt; 清单执行 -&gt; 确认摄入 -&gt; 营养记录 -&gt; 偏好学习</a:t>
            </a:r>
            <a:endParaRPr sz="900"/>
          </a:p>
        </p:txBody>
      </p:sp>
      <p:sp>
        <p:nvSpPr>
          <p:cNvPr id="42" name="TextBox 41"/>
          <p:cNvSpPr txBox="1"/>
          <p:nvPr/>
        </p:nvSpPr>
        <p:spPr>
          <a:xfrm>
            <a:off x="960120" y="4279265"/>
            <a:ext cx="5074920" cy="3194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这条链路保证“看见食物”以后能继续落到行动和长期记忆，而不是停在一次 API 返回。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053328"/>
            <a:ext cx="7772400" cy="22860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pPr>
              <a:defRPr sz="1200" b="0">
                <a:solidFill>
                  <a:srgbClr val="5C6B63"/>
                </a:solidFill>
                <a:latin typeface="PingFang SC" panose="020B0400000000000000" charset="-122"/>
              </a:defRPr>
            </a:pPr>
          </a:p>
        </p:txBody>
      </p:sp>
      <p:sp>
        <p:nvSpPr>
          <p:cNvPr id="44" name="Rounded Rectangle 35"/>
          <p:cNvSpPr/>
          <p:nvPr/>
        </p:nvSpPr>
        <p:spPr>
          <a:xfrm>
            <a:off x="8897111" y="1106424"/>
            <a:ext cx="2066543" cy="479145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36" descr="bytesavor-nav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2" y="1170432"/>
            <a:ext cx="1975104" cy="4663440"/>
          </a:xfrm>
          <a:prstGeom prst="rect">
            <a:avLst/>
          </a:prstGeom>
        </p:spPr>
      </p:pic>
      <p:sp>
        <p:nvSpPr>
          <p:cNvPr id="46" name="Rounded Rectangle 37"/>
          <p:cNvSpPr/>
          <p:nvPr/>
        </p:nvSpPr>
        <p:spPr>
          <a:xfrm>
            <a:off x="9052559" y="5532120"/>
            <a:ext cx="1755648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当前首页 / 5 Tab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21360" y="2837180"/>
            <a:ext cx="60712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400">
                <a:solidFill>
                  <a:srgbClr val="5C6B63"/>
                </a:solidFill>
                <a:latin typeface="PingFang SC" panose="020B0400000000000000" charset="-122"/>
                <a:sym typeface="+mn-ea"/>
              </a:rPr>
              <a:t>从拍照识别、自然语言意图，到菜谱推荐、购物清单、反馈学习，把“吃什么、怎么买、怎么调”串成一条可追踪的 Agent 流水线。</a:t>
            </a:r>
            <a:endParaRPr sz="1400" b="0">
              <a:solidFill>
                <a:srgbClr val="5C6B63"/>
              </a:solidFill>
              <a:latin typeface="PingFang SC" panose="020B0400000000000000" charset="-122"/>
            </a:endParaRPr>
          </a:p>
          <a:p>
            <a:endParaRPr lang="zh-CN" altLang="en-US" sz="1400" b="0">
              <a:solidFill>
                <a:srgbClr val="5C6B63"/>
              </a:solidFill>
              <a:latin typeface="PingFang SC" panose="020B0400000000000000" charset="-122"/>
            </a:endParaRPr>
          </a:p>
        </p:txBody>
      </p:sp>
      <p:sp>
        <p:nvSpPr>
          <p:cNvPr id="49" name="TextBox 18"/>
          <p:cNvSpPr txBox="1"/>
          <p:nvPr/>
        </p:nvSpPr>
        <p:spPr>
          <a:xfrm>
            <a:off x="939800" y="5434965"/>
            <a:ext cx="1280160" cy="2959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食材 / 分量 / 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新鲜度提示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50" name="TextBox 23"/>
          <p:cNvSpPr txBox="1"/>
          <p:nvPr/>
        </p:nvSpPr>
        <p:spPr>
          <a:xfrm>
            <a:off x="2170430" y="5431790"/>
            <a:ext cx="909320" cy="264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食材 + 时间 + 偏好 → 推荐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51" name="TextBox 28"/>
          <p:cNvSpPr txBox="1"/>
          <p:nvPr/>
        </p:nvSpPr>
        <p:spPr>
          <a:xfrm>
            <a:off x="3406140" y="5427980"/>
            <a:ext cx="1066800" cy="13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多菜谱合并购物清单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52" name="TextBox 33"/>
          <p:cNvSpPr txBox="1"/>
          <p:nvPr/>
        </p:nvSpPr>
        <p:spPr>
          <a:xfrm>
            <a:off x="4754625" y="5417820"/>
            <a:ext cx="12801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评分沉淀为用户偏好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BASELINE TO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"/>
            <a:ext cx="6217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从离散工具到 BYTE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8046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原始 Baseline 的核心问题不是“没有 App”，而是识别、营养、菜谱、购物、反馈互相断开。ByteSavor 的改进点是把这些节点连接成一个可执行流程。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02920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200" b="1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02/05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48920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705"/>
            <a:ext cx="2870200" cy="3467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16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Baseline：离散与断层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254203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624327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9689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9689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只能知道“是什么”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304495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12724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9981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菜谱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9981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单点搜索，缺少约束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4787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3016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0273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营养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60273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另开工具手动换算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" y="4050791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133087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05655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05655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重复整理、难导出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" y="4553712"/>
            <a:ext cx="310896" cy="310896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36008"/>
            <a:ext cx="164592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08576"/>
            <a:ext cx="71323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608576"/>
            <a:ext cx="22860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评价不回流推荐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230368"/>
            <a:ext cx="4160520" cy="34747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40096"/>
            <a:ext cx="3886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7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结果：信息到行动之间存在多次手动跳转，现场演示容易变成“打开多个工具”。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783080"/>
            <a:ext cx="5440680" cy="3977639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084831"/>
            <a:ext cx="34747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ByteSavor：Agent 全链路闭环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7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Sense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图片/文本输入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71231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1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0104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7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1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推荐 + 营养缺口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58784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741664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0264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5C56B1"/>
                </a:solidFill>
                <a:latin typeface="PingFang SC" panose="020B0400000000000000" charset="-122"/>
              </a:defRPr>
            </a:pPr>
            <a: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0536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7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清单合并 + 导出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9216" y="3291840"/>
            <a:ext cx="137160" cy="0"/>
          </a:xfrm>
          <a:prstGeom prst="line">
            <a:avLst/>
          </a:prstGeom>
          <a:ln w="190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12096" y="2788920"/>
            <a:ext cx="960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0696" y="2944368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9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968" y="3273552"/>
            <a:ext cx="73152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7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03536" y="3511296"/>
            <a:ext cx="777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6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评分学习偏好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629400" y="3886200"/>
            <a:ext cx="3383280" cy="548640"/>
          </a:xfrm>
          <a:prstGeom prst="line">
            <a:avLst/>
          </a:prstGeom>
          <a:ln w="2286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00800" y="4681728"/>
            <a:ext cx="4617720" cy="566928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6832" y="4882896"/>
            <a:ext cx="41605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2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每次调用保留 trace_id / stages / latency / degraded，能解释、能兜底、能复盘。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技术栈与 Agent 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C9E1D5"/>
                </a:solidFill>
                <a:latin typeface="PingFang SC" panose="020B0400000000000000" charset="-122"/>
              </a:defRPr>
            </a:pPr>
            <a:r>
              <a:t>前端 uni-app / Vue3，后端 FastAPI + MySQL + Redis，AI 层接入 VLM 与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43584"/>
            <a:ext cx="3977639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435608"/>
            <a:ext cx="3429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uni-app / Vue3 / Vite5 前端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810512"/>
            <a:ext cx="0" cy="585216"/>
          </a:xfrm>
          <a:prstGeom prst="line">
            <a:avLst/>
          </a:prstGeom>
          <a:ln w="304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2487168"/>
            <a:ext cx="2176272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24912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5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B 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90672"/>
            <a:ext cx="17830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3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图片/文本输入</a:t>
            </a:r>
            <a:br/>
            <a:r>
              <a:t>食材、分量、品质、菜品</a:t>
            </a:r>
            <a:br/>
            <a:r>
              <a:t>Qwen-VL / VLM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487168"/>
            <a:ext cx="2176272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724912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50" b="1">
                <a:solidFill>
                  <a:srgbClr val="F4B957"/>
                </a:solidFill>
                <a:latin typeface="PingFang SC" panose="020B0400000000000000" charset="-122"/>
              </a:defRPr>
            </a:pPr>
            <a:r>
              <a:t>Y 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090672"/>
            <a:ext cx="17830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3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推荐引擎</a:t>
            </a:r>
            <a:br/>
            <a:r>
              <a:t>目标、偏好、营养缺口</a:t>
            </a:r>
            <a:br/>
            <a:r>
              <a:t>食材+标签+偏好排序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6128" y="2487168"/>
            <a:ext cx="2176272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724912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50" b="1">
                <a:solidFill>
                  <a:srgbClr val="5C56B1"/>
                </a:solidFill>
                <a:latin typeface="PingFang SC" panose="020B0400000000000000" charset="-122"/>
              </a:defRPr>
            </a:pPr>
            <a:r>
              <a:t>T 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3090672"/>
            <a:ext cx="17830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3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三餐计划 / 清单</a:t>
            </a:r>
            <a:br/>
            <a:r>
              <a:t>库存扣减、完成记录</a:t>
            </a:r>
            <a:br/>
            <a:r>
              <a:t>识别不等于摄入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487168"/>
            <a:ext cx="2176272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5" y="2724912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5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E 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5" y="3090672"/>
            <a:ext cx="17830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3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评分 + 文字原因</a:t>
            </a:r>
            <a:br/>
            <a:r>
              <a:t>LLM 解析偏好记忆</a:t>
            </a:r>
            <a:br/>
            <a:r>
              <a:t>liked / avoid signals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98648" y="3319272"/>
            <a:ext cx="228600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9240" y="3319272"/>
            <a:ext cx="228600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3319272"/>
            <a:ext cx="228600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28800" y="4187952"/>
            <a:ext cx="7296912" cy="91440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17320" y="5230368"/>
            <a:ext cx="9418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D9EFE5"/>
                </a:solidFill>
                <a:latin typeface="PingFang SC" panose="020B0400000000000000" charset="-122"/>
              </a:defRPr>
            </a:pPr>
            <a:r>
              <a:t>反馈回路：确认摄入 -&gt; 营养长期记录；评分原因 -&gt; preference_memories -&gt; 下一轮推荐加权/降权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432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SQLAlchemy async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398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MySQL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Redis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VLM/LLM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6648" y="5897880"/>
            <a:ext cx="13533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3224" y="6007608"/>
            <a:ext cx="1280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2576+ 菜谱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" y="5518023"/>
            <a:ext cx="10241280" cy="34747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287" y="5565521"/>
            <a:ext cx="98298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4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技术难点：多模态输出结构化、识别不等于摄入的状态边界、推荐解释与降级、长期营养/偏好记忆的一致性。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Agent 深度：不是聊天框，而是可追踪的工具编排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独立角色页面保证可测；Agent 负责跨场景理解、调用工具、生成结果和学习反馈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0632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1. 输入理解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3774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自然语言 + 图片输入</a:t>
            </a:r>
            <a:br/>
            <a:r>
              <a:t>DeepSeek -&gt; Ollama -&gt; 规则兜底</a:t>
            </a:r>
            <a:br/>
            <a:r>
              <a:t>输出结构化意图：食材、目标、时间、模式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71800"/>
            <a:ext cx="2267712" cy="53035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182112"/>
            <a:ext cx="19202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6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例：牛肉南瓜，30分钟减脂餐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23774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价值：用户不需要理解系统有多少页面，Agent 先把任务拆开。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325880"/>
            <a:ext cx="3794760" cy="4206240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627632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2. 工具编排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03704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203704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VLM 识别食材/菜品/品质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0448" y="2487168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679192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25496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825496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食材 + 目标 + 偏好 + 缺口推荐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3108960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34840" y="3300984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447288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447288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生成清单、计划、库存扣减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70448" y="3730752"/>
            <a:ext cx="0" cy="173736"/>
          </a:xfrm>
          <a:prstGeom prst="line">
            <a:avLst/>
          </a:prstGeom>
          <a:ln w="1778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34840" y="3922776"/>
            <a:ext cx="2907792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69080"/>
            <a:ext cx="65836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4069080"/>
            <a:ext cx="18470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评分文本 -&gt; 偏好记忆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92040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D9EFE5"/>
                </a:solidFill>
                <a:latin typeface="PingFang SC" panose="020B0400000000000000" charset="-122"/>
              </a:defRPr>
            </a:pPr>
            <a:r>
              <a:t>每个 stage 返回 status / latency_ms / degraded，让演示时能解释哪里慢、哪里降级。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32588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1627632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3. 长期记忆回流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039112"/>
            <a:ext cx="256032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确认摄入写入 MealRecord</a:t>
            </a:r>
            <a:br/>
            <a:r>
              <a:t>每日/每周营养看板读取 completed 记录</a:t>
            </a:r>
            <a:br/>
            <a:r>
              <a:t>评分原因写入 preference_memories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0768" y="2971800"/>
            <a:ext cx="2542032" cy="786384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182112"/>
            <a:ext cx="21031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喜欢清淡少油、高蛋白</a:t>
            </a:r>
            <a:br/>
            <a:r>
              <a:t>=&gt; liked: light, high_protein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4041648"/>
            <a:ext cx="2542032" cy="786384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4279392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太油腻、不想再吃</a:t>
            </a:r>
            <a:br/>
            <a:r>
              <a:t>=&gt; avoid: oily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5010912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下一轮推荐读取 liked/avoid，对菜谱加权或降权。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角色化测试、软件规模与现场演示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测试跟功能一一呼应，最后用一条主线演示 B-Y-T-E 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5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目标/身高体重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1755648"/>
            <a:ext cx="292607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0672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删改去重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1755648"/>
            <a:ext cx="292608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93792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8383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营养占比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1" y="1755648"/>
            <a:ext cx="292609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61504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26096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392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摄入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写入看板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81744" y="1755648"/>
            <a:ext cx="292608" cy="0"/>
          </a:xfrm>
          <a:prstGeom prst="line">
            <a:avLst/>
          </a:prstGeom>
          <a:ln w="2286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29216" y="1325880"/>
            <a:ext cx="190195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93808" y="1527048"/>
            <a:ext cx="310896" cy="310896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6104" y="1609344"/>
            <a:ext cx="146304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4" y="1527048"/>
            <a:ext cx="777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反馈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6144" y="1792224"/>
            <a:ext cx="96012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偏好记忆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2606040"/>
            <a:ext cx="6035040" cy="1993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测试与功能对应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154680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家庭做饭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154680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场景一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154680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识别/校正/推荐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3410712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健康管理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3410712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场景四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3410712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确认摄入/删除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3666744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买菜用户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3666744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场景三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666744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品质鉴定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3922776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探店用户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3922776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场景五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3922776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故事口味吃法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4178808"/>
            <a:ext cx="100584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长期个性化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178808"/>
            <a:ext cx="5943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1">
                <a:solidFill>
                  <a:srgbClr val="1B7F5F"/>
                </a:solidFill>
                <a:latin typeface="PingFang SC" panose="020B0400000000000000" charset="-122"/>
              </a:defRPr>
            </a:pPr>
            <a:r>
              <a:t>pytest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178808"/>
            <a:ext cx="150876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偏好记忆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14032" y="2606040"/>
            <a:ext cx="1170432" cy="969264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测试文件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472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8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5472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要求 &gt;3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67344" y="2606040"/>
            <a:ext cx="1170432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核心源文件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98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58784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要求 &gt;5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20656" y="2606040"/>
            <a:ext cx="1170432" cy="9692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0384" y="2834640"/>
            <a:ext cx="932688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核心代码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2096" y="3081528"/>
            <a:ext cx="98755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5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12,295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12096" y="3328416"/>
            <a:ext cx="987552" cy="73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68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要求 &gt;500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14032" y="3913632"/>
            <a:ext cx="3877056" cy="6858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4096512"/>
            <a:ext cx="35204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20" b="1">
                <a:solidFill>
                  <a:srgbClr val="173B2E"/>
                </a:solidFill>
                <a:latin typeface="PingFang SC" panose="020B0400000000000000" charset="-122"/>
              </a:defRPr>
            </a:pPr>
            <a:r>
              <a:t>分布：后端 3,636 行 / 前端 7,935 行 / 测试 724 行；菜谱数据 138,252 行。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4352544"/>
            <a:ext cx="340156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40" b="0">
                <a:solidFill>
                  <a:srgbClr val="5C6B63"/>
                </a:solidFill>
                <a:latin typeface="PingFang SC" panose="020B0400000000000000" charset="-122"/>
              </a:defRPr>
            </a:pPr>
            <a:r>
              <a:t>最新验证：15 个相关 pytest 通过；两个 H5 前端构建通过。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2688" y="5102352"/>
            <a:ext cx="10259568" cy="658368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5296" y="5312664"/>
            <a:ext cx="9692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7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收束：ByteSavor 不是只接几个 AI 接口，而是把饮食任务做成“感知 -&gt; 决策 -&gt; 执行 -&gt; 反馈”的可验证闭环。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演示</Application>
  <PresentationFormat>On-screen Show (4:3)</PresentationFormat>
  <Paragraphs>282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李文彬</cp:lastModifiedBy>
  <cp:revision>2</cp:revision>
  <dcterms:created xsi:type="dcterms:W3CDTF">2026-06-15T01:07:04Z</dcterms:created>
  <dcterms:modified xsi:type="dcterms:W3CDTF">2026-06-15T01:07:04Z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E49BA8088B9C085F38502F6A1E97E849_42</vt:lpwstr>
  </property>
</Properties>
</file>